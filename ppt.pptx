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6"/>
  </p:notesMasterIdLst>
  <p:sldIdLst>
    <p:sldId id="258" r:id="rId2"/>
    <p:sldId id="260" r:id="rId3"/>
    <p:sldId id="257" r:id="rId4"/>
    <p:sldId id="263" r:id="rId5"/>
    <p:sldId id="272" r:id="rId6"/>
    <p:sldId id="264" r:id="rId7"/>
    <p:sldId id="259" r:id="rId8"/>
    <p:sldId id="261" r:id="rId9"/>
    <p:sldId id="262" r:id="rId10"/>
    <p:sldId id="267" r:id="rId11"/>
    <p:sldId id="268" r:id="rId12"/>
    <p:sldId id="269" r:id="rId13"/>
    <p:sldId id="270" r:id="rId14"/>
    <p:sldId id="271" r:id="rId15"/>
  </p:sldIdLst>
  <p:sldSz cx="12192000" cy="6858000"/>
  <p:notesSz cx="6858000" cy="9144000"/>
  <p:embeddedFontLst>
    <p:embeddedFont>
      <p:font typeface="맑은 고딕" panose="020B0503020000020004" pitchFamily="50" charset="-127"/>
      <p:regular r:id="rId17"/>
      <p:bold r:id="rId18"/>
    </p:embeddedFont>
    <p:embeddedFont>
      <p:font typeface="페이퍼로지 1 Thin" pitchFamily="2" charset="-127"/>
      <p:regular r:id="rId19"/>
    </p:embeddedFont>
    <p:embeddedFont>
      <p:font typeface="페이퍼로지 3 Light" pitchFamily="2" charset="-127"/>
      <p:regular r:id="rId20"/>
    </p:embeddedFont>
    <p:embeddedFont>
      <p:font typeface="페이퍼로지 5 Medium" pitchFamily="2" charset="-127"/>
      <p:regular r:id="rId21"/>
    </p:embeddedFont>
    <p:embeddedFont>
      <p:font typeface="페이퍼로지 6 SemiBold" pitchFamily="2" charset="-127"/>
      <p:bold r:id="rId22"/>
    </p:embeddedFont>
    <p:embeddedFont>
      <p:font typeface="페이퍼로지 7 Bold" pitchFamily="2" charset="-127"/>
      <p:bold r:id="rId23"/>
    </p:embeddedFont>
    <p:embeddedFont>
      <p:font typeface="페이퍼로지 8 ExtraBold" pitchFamily="2" charset="-127"/>
      <p:bold r:id="rId24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CF0"/>
    <a:srgbClr val="A6A6A6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C21B25-AE69-4E46-AEBC-10C68C643C1A}" v="144" dt="2026-05-20T11:43:41.4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3" autoAdjust="0"/>
    <p:restoredTop sz="94646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C0C20-2A03-430E-9FD1-61C3E5545FEB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71592-86CC-47F3-8AA3-4BB5D6E5B0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71592-86CC-47F3-8AA3-4BB5D6E5B0E3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3759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DD36-6531-B762-6CCC-ECF9BEAC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99C863-D52A-CA45-7BF6-777B4C897C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FB9FC7-DF44-77D0-B944-9808BDAB6C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FC5365-998A-A1F3-B41D-F9F01DFD80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71592-86CC-47F3-8AA3-4BB5D6E5B0E3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517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285DB-D1E3-32D1-4E50-80E0D161C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98CCEF-0FAF-59C7-3074-47A34AAF32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BE9FBD-DEC2-1D32-C799-8AFCD727F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F4A3CE-0349-DF24-AFB0-8A42313833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71592-86CC-47F3-8AA3-4BB5D6E5B0E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6488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A84A93-DDEA-A9AC-5C1A-78AC5C297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99FBD1C-5478-BFF5-0D67-F65999FC5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E025BAD-B168-1240-5E46-77FB2E7DB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89BA4B-6C58-BEBF-C73C-0C4EE15A3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71592-86CC-47F3-8AA3-4BB5D6E5B0E3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2152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71592-86CC-47F3-8AA3-4BB5D6E5B0E3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7480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3527C-D258-D987-3646-39FDFE145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D39AC19-E6E4-C4CC-FF4F-B138EA4099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30DEA5-292C-F033-0F75-E93D58615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B4A36C-EC43-F4A1-AC87-D39A3BA831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71592-86CC-47F3-8AA3-4BB5D6E5B0E3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0522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0173F-196D-86D7-2227-B7BAA1C80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48A2B12-8F12-2125-6547-B45A434643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486FED-91DE-50F9-0B77-76B14473E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DAC384-9784-91BA-E5A4-8BF2C4F33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71592-86CC-47F3-8AA3-4BB5D6E5B0E3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53103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6CBC6-89E5-EEEE-0270-84A891539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64904F-315F-49DA-2562-975EAA2376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43C9FA5-AEF3-17A3-5C0F-5CFD5C3E5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4C6A56-7FA7-FF9F-B0C7-11108FD966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71592-86CC-47F3-8AA3-4BB5D6E5B0E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2890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28AE8-B5C1-1867-B9B3-08163D139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C3FB6C-E0D3-4736-65DD-DF148A3E2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D44A4A-CD36-BA59-A986-3017D3E5E0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9CA511-8F59-B3A9-62AD-AF3161E34D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71592-86CC-47F3-8AA3-4BB5D6E5B0E3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1997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29714-245A-BE93-36C0-185DD06C9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18DE0B-FC10-D760-1B3B-68849CE58D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D10B4C-4A11-40FB-5EEC-CC3CCEE661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CFC977-A656-88E5-D497-EA37AE3742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71592-86CC-47F3-8AA3-4BB5D6E5B0E3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8800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AC44A-1920-C537-7CCB-1BF28C437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46E787B-B1FF-2D3E-8138-1EDFE80933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38E5E70-B4E2-5A47-6A96-94873DDCA2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1FF25-389F-B538-9824-C6E7DE59F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71592-86CC-47F3-8AA3-4BB5D6E5B0E3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9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EEBEB1-FD9E-1F92-C6ED-BF251EA79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541D52C-6BE1-6AB9-EF54-F4B77A4AC2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B55CE7-BDFE-A209-8B74-066C711BF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0F041-724D-47BF-B667-3E91818CB72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546285-7908-4A71-226B-8CA2ED4C1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564C7-FEB0-2CF8-F4C1-E020CBAE1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3D55-862A-4FEA-B565-C50D9D6175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940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AFFCA-BA36-AE96-14B0-E01881EC7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440F80-D777-8043-B0E3-ABC94D2D2B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9F17D3-9A6A-9DDC-28F0-9792FCD67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0F041-724D-47BF-B667-3E91818CB72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0416FE-A224-CA98-595D-0606AA90E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0D93A1-99C4-9691-FBC9-539C58DFC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3D55-862A-4FEA-B565-C50D9D6175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66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BC09CC-751E-4D88-83B3-F3CC2E73F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8B3547-76CF-0B8D-4FC9-720CFFB678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15BCDD-0196-EDDE-7338-0BC535A62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0F041-724D-47BF-B667-3E91818CB72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894FF4-C6F4-FBCE-94BB-606777211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4A488F-B86C-4A80-B45F-3C732E01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3D55-862A-4FEA-B565-C50D9D6175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98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D697DD-0749-920D-BEC0-5ADB229D5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D23E96-61CE-C960-2796-8D4B6A68A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6D24158-0700-4065-BA68-CCC0A5C72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3DA4BF-C8A2-FAF0-EFD4-CE0F57628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0F041-724D-47BF-B667-3E91818CB72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26C472C-1C2C-DA6D-6CC1-04C0C13D1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79018E-7292-9C0B-D8FB-F2B54DB32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3D55-862A-4FEA-B565-C50D9D6175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983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216DD6-699F-4893-D63E-79FE213ED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8A592E-211F-A6A2-2B9D-4D325B97AD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12AB505-5B46-3B38-3713-52FB2853BF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2B52127-DC6F-2B72-5184-C47E56E150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204A695-EEEA-CE47-D031-3CDE2459F2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5D33DDC-30F4-BF0C-B4D1-DF8A4508F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0F041-724D-47BF-B667-3E91818CB72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B070193-1CDC-7C08-CE96-D9F455F2F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C346DB6-737F-6D9F-3002-9F3B1EAA4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3D55-862A-4FEA-B565-C50D9D6175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3986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2F9A6E-CF24-3640-21A5-7735660E9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DC2D0A0-D68D-755A-2C74-EF532D09A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0F041-724D-47BF-B667-3E91818CB72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8BACAA7-2531-7B83-F797-737479470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50DFCE8-30B9-8310-14F2-78440E6B5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3D55-862A-4FEA-B565-C50D9D6175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2692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2DEF960-4A65-9B91-5B7F-B714008984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0F041-724D-47BF-B667-3E91818CB72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D3F0AA1-B365-6D15-9C4B-E5BCD9FD6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48A9F3-2083-CDFC-60AD-3E80C523C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3D55-862A-4FEA-B565-C50D9D6175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008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824E53-0357-7015-E993-792EFFDC8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D2ED52-E6E0-9075-2BC6-04259E53F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C28E718-CD94-C14B-7100-9352BFA942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C05B41-9859-5CF6-496D-C0D9D4F1B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0F041-724D-47BF-B667-3E91818CB72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11B6663-7FC1-CAA9-8E93-014DD8FCC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F0D327-AA8F-A5A0-B763-8C0E46DE5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3D55-862A-4FEA-B565-C50D9D6175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0406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466CBE-11AE-A839-E096-15B410E45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FE9BAEB-CAC6-B227-B4BF-9B46F76FEC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803106F-9982-15AC-DD5E-C84D20D0B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9F5A535-5733-8EF8-3D09-37B25E334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0F041-724D-47BF-B667-3E91818CB72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483281-79E3-B5B1-6D8A-FFC4547A6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19CEF9E-2538-EC37-CE97-20613B3AA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3D55-862A-4FEA-B565-C50D9D6175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723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C4427B-E185-2EC7-23F1-5ED432C15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7F8987-7006-A154-37D9-7C23F773E4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D84058E-AD43-8FFF-CCA3-52B512B753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0F041-724D-47BF-B667-3E91818CB72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403BC7-4AE7-EF52-A9CE-16EFEE574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78C3FD-81CF-689B-02BA-1618C1590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3D55-862A-4FEA-B565-C50D9D6175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14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A15DCC-89D7-D89B-619D-DC74FA0608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607C3F-EAD2-9C5D-4ECE-D895EC6C9E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F156F65-2129-1480-05A1-D4A430575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50F041-724D-47BF-B667-3E91818CB72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155AAC-82A3-1F29-4A00-687BCDE26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79BEF1-E9E0-A3AE-169F-24A45EA2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93D55-862A-4FEA-B565-C50D9D6175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8122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DBC4F81-9E4E-9AE3-9C24-0F32849C3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34A36A8-2216-8328-7324-DE43859DF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2E0C13-496F-0932-9FBA-664D5453AD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50F041-724D-47BF-B667-3E91818CB722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8022B0-0751-61F4-ACD7-8E74333D19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A2252C-98F0-684D-A977-90F3714B5F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B93D55-862A-4FEA-B565-C50D9D6175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585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10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svg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40000"/>
                <a:lumOff val="60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27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647EE10-DFF2-FC77-BBF0-59BD25F54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: 도형 12">
            <a:extLst>
              <a:ext uri="{FF2B5EF4-FFF2-40B4-BE49-F238E27FC236}">
                <a16:creationId xmlns:a16="http://schemas.microsoft.com/office/drawing/2014/main" id="{698AF4E4-0F1C-D8F8-6500-A2111CF97992}"/>
              </a:ext>
            </a:extLst>
          </p:cNvPr>
          <p:cNvSpPr/>
          <p:nvPr/>
        </p:nvSpPr>
        <p:spPr>
          <a:xfrm>
            <a:off x="1087118" y="0"/>
            <a:ext cx="3808006" cy="2374160"/>
          </a:xfrm>
          <a:custGeom>
            <a:avLst/>
            <a:gdLst>
              <a:gd name="csX0" fmla="*/ 79026 w 3808006"/>
              <a:gd name="csY0" fmla="*/ 0 h 2374160"/>
              <a:gd name="csX1" fmla="*/ 3728980 w 3808006"/>
              <a:gd name="csY1" fmla="*/ 0 h 2374160"/>
              <a:gd name="csX2" fmla="*/ 3769324 w 3808006"/>
              <a:gd name="csY2" fmla="*/ 152378 h 2374160"/>
              <a:gd name="csX3" fmla="*/ 3808006 w 3808006"/>
              <a:gd name="csY3" fmla="*/ 525040 h 2374160"/>
              <a:gd name="csX4" fmla="*/ 1904003 w 3808006"/>
              <a:gd name="csY4" fmla="*/ 2374160 h 2374160"/>
              <a:gd name="csX5" fmla="*/ 0 w 3808006"/>
              <a:gd name="csY5" fmla="*/ 525040 h 2374160"/>
              <a:gd name="csX6" fmla="*/ 38683 w 3808006"/>
              <a:gd name="csY6" fmla="*/ 152378 h 237416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3808006" h="2374160">
                <a:moveTo>
                  <a:pt x="79026" y="0"/>
                </a:moveTo>
                <a:lnTo>
                  <a:pt x="3728980" y="0"/>
                </a:lnTo>
                <a:lnTo>
                  <a:pt x="3769324" y="152378"/>
                </a:lnTo>
                <a:cubicBezTo>
                  <a:pt x="3794687" y="272751"/>
                  <a:pt x="3808006" y="397385"/>
                  <a:pt x="3808006" y="525040"/>
                </a:cubicBezTo>
                <a:cubicBezTo>
                  <a:pt x="3808006" y="1546281"/>
                  <a:pt x="2955555" y="2374160"/>
                  <a:pt x="1904003" y="2374160"/>
                </a:cubicBezTo>
                <a:cubicBezTo>
                  <a:pt x="852451" y="2374160"/>
                  <a:pt x="0" y="1546281"/>
                  <a:pt x="0" y="525040"/>
                </a:cubicBezTo>
                <a:cubicBezTo>
                  <a:pt x="0" y="397385"/>
                  <a:pt x="13320" y="272751"/>
                  <a:pt x="38683" y="15237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DEFC2725-AC4E-15EF-2D69-85587A404C06}"/>
              </a:ext>
            </a:extLst>
          </p:cNvPr>
          <p:cNvSpPr/>
          <p:nvPr/>
        </p:nvSpPr>
        <p:spPr>
          <a:xfrm>
            <a:off x="1918243" y="3724191"/>
            <a:ext cx="5953762" cy="3133809"/>
          </a:xfrm>
          <a:custGeom>
            <a:avLst/>
            <a:gdLst>
              <a:gd name="csX0" fmla="*/ 2976881 w 5953762"/>
              <a:gd name="csY0" fmla="*/ 0 h 3133809"/>
              <a:gd name="csX1" fmla="*/ 5953762 w 5953762"/>
              <a:gd name="csY1" fmla="*/ 2891073 h 3133809"/>
              <a:gd name="csX2" fmla="*/ 5941141 w 5953762"/>
              <a:gd name="csY2" fmla="*/ 3133809 h 3133809"/>
              <a:gd name="csX3" fmla="*/ 12621 w 5953762"/>
              <a:gd name="csY3" fmla="*/ 3133809 h 3133809"/>
              <a:gd name="csX4" fmla="*/ 0 w 5953762"/>
              <a:gd name="csY4" fmla="*/ 2891073 h 3133809"/>
              <a:gd name="csX5" fmla="*/ 2976881 w 5953762"/>
              <a:gd name="csY5" fmla="*/ 0 h 31338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5953762" h="3133809">
                <a:moveTo>
                  <a:pt x="2976881" y="0"/>
                </a:moveTo>
                <a:cubicBezTo>
                  <a:pt x="4620967" y="0"/>
                  <a:pt x="5953762" y="1294377"/>
                  <a:pt x="5953762" y="2891073"/>
                </a:cubicBezTo>
                <a:lnTo>
                  <a:pt x="5941141" y="3133809"/>
                </a:lnTo>
                <a:lnTo>
                  <a:pt x="12621" y="3133809"/>
                </a:lnTo>
                <a:lnTo>
                  <a:pt x="0" y="2891073"/>
                </a:lnTo>
                <a:cubicBezTo>
                  <a:pt x="0" y="1294377"/>
                  <a:pt x="1332795" y="0"/>
                  <a:pt x="297688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55A96AC5-BEF1-A225-1762-5D3A5501CC32}"/>
              </a:ext>
            </a:extLst>
          </p:cNvPr>
          <p:cNvSpPr/>
          <p:nvPr/>
        </p:nvSpPr>
        <p:spPr>
          <a:xfrm>
            <a:off x="8973818" y="0"/>
            <a:ext cx="2768602" cy="1701800"/>
          </a:xfrm>
          <a:custGeom>
            <a:avLst/>
            <a:gdLst>
              <a:gd name="csX0" fmla="*/ 51015 w 2768602"/>
              <a:gd name="csY0" fmla="*/ 0 h 1701800"/>
              <a:gd name="csX1" fmla="*/ 2717588 w 2768602"/>
              <a:gd name="csY1" fmla="*/ 0 h 1701800"/>
              <a:gd name="csX2" fmla="*/ 2740478 w 2768602"/>
              <a:gd name="csY2" fmla="*/ 86458 h 1701800"/>
              <a:gd name="csX3" fmla="*/ 2768602 w 2768602"/>
              <a:gd name="csY3" fmla="*/ 357401 h 1701800"/>
              <a:gd name="csX4" fmla="*/ 1384301 w 2768602"/>
              <a:gd name="csY4" fmla="*/ 1701800 h 1701800"/>
              <a:gd name="csX5" fmla="*/ 0 w 2768602"/>
              <a:gd name="csY5" fmla="*/ 357401 h 1701800"/>
              <a:gd name="csX6" fmla="*/ 28124 w 2768602"/>
              <a:gd name="csY6" fmla="*/ 86458 h 1701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2768602" h="1701800">
                <a:moveTo>
                  <a:pt x="51015" y="0"/>
                </a:moveTo>
                <a:lnTo>
                  <a:pt x="2717588" y="0"/>
                </a:lnTo>
                <a:lnTo>
                  <a:pt x="2740478" y="86458"/>
                </a:lnTo>
                <a:cubicBezTo>
                  <a:pt x="2758918" y="173975"/>
                  <a:pt x="2768602" y="264590"/>
                  <a:pt x="2768602" y="357401"/>
                </a:cubicBezTo>
                <a:cubicBezTo>
                  <a:pt x="2768602" y="1099892"/>
                  <a:pt x="2148829" y="1701800"/>
                  <a:pt x="1384301" y="1701800"/>
                </a:cubicBezTo>
                <a:cubicBezTo>
                  <a:pt x="619773" y="1701800"/>
                  <a:pt x="0" y="1099892"/>
                  <a:pt x="0" y="357401"/>
                </a:cubicBezTo>
                <a:cubicBezTo>
                  <a:pt x="0" y="264590"/>
                  <a:pt x="9684" y="173975"/>
                  <a:pt x="28124" y="8645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A01FBEA3-2473-C865-5251-67E174C352A5}"/>
              </a:ext>
            </a:extLst>
          </p:cNvPr>
          <p:cNvSpPr/>
          <p:nvPr/>
        </p:nvSpPr>
        <p:spPr>
          <a:xfrm>
            <a:off x="10630119" y="5225843"/>
            <a:ext cx="1561881" cy="1632159"/>
          </a:xfrm>
          <a:custGeom>
            <a:avLst/>
            <a:gdLst>
              <a:gd name="csX0" fmla="*/ 1112301 w 1561881"/>
              <a:gd name="csY0" fmla="*/ 0 h 1632159"/>
              <a:gd name="csX1" fmla="*/ 1545259 w 1561881"/>
              <a:gd name="csY1" fmla="*/ 84891 h 1632159"/>
              <a:gd name="csX2" fmla="*/ 1561881 w 1561881"/>
              <a:gd name="csY2" fmla="*/ 92667 h 1632159"/>
              <a:gd name="csX3" fmla="*/ 1561881 w 1561881"/>
              <a:gd name="csY3" fmla="*/ 1632159 h 1632159"/>
              <a:gd name="csX4" fmla="*/ 157402 w 1561881"/>
              <a:gd name="csY4" fmla="*/ 1632159 h 1632159"/>
              <a:gd name="csX5" fmla="*/ 134249 w 1561881"/>
              <a:gd name="csY5" fmla="*/ 1595146 h 1632159"/>
              <a:gd name="csX6" fmla="*/ 0 w 1561881"/>
              <a:gd name="csY6" fmla="*/ 1080239 h 1632159"/>
              <a:gd name="csX7" fmla="*/ 1112301 w 1561881"/>
              <a:gd name="csY7" fmla="*/ 0 h 16321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61881" h="1632159">
                <a:moveTo>
                  <a:pt x="1112301" y="0"/>
                </a:moveTo>
                <a:cubicBezTo>
                  <a:pt x="1265878" y="0"/>
                  <a:pt x="1412185" y="30228"/>
                  <a:pt x="1545259" y="84891"/>
                </a:cubicBezTo>
                <a:lnTo>
                  <a:pt x="1561881" y="92667"/>
                </a:lnTo>
                <a:lnTo>
                  <a:pt x="1561881" y="1632159"/>
                </a:lnTo>
                <a:lnTo>
                  <a:pt x="157402" y="1632159"/>
                </a:lnTo>
                <a:lnTo>
                  <a:pt x="134249" y="1595146"/>
                </a:lnTo>
                <a:cubicBezTo>
                  <a:pt x="48632" y="1442083"/>
                  <a:pt x="0" y="1266677"/>
                  <a:pt x="0" y="1080239"/>
                </a:cubicBezTo>
                <a:cubicBezTo>
                  <a:pt x="0" y="483639"/>
                  <a:pt x="497994" y="0"/>
                  <a:pt x="1112301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440DA3E-B4B7-7190-B0EA-D53A4B495FC3}"/>
              </a:ext>
            </a:extLst>
          </p:cNvPr>
          <p:cNvGrpSpPr/>
          <p:nvPr/>
        </p:nvGrpSpPr>
        <p:grpSpPr>
          <a:xfrm>
            <a:off x="610081" y="2449011"/>
            <a:ext cx="7261924" cy="1200329"/>
            <a:chOff x="610081" y="3948960"/>
            <a:chExt cx="7261924" cy="1200329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6EA885F-31EB-FBEB-0BDF-D4EEA376CF4D}"/>
                </a:ext>
              </a:extLst>
            </p:cNvPr>
            <p:cNvSpPr txBox="1"/>
            <p:nvPr/>
          </p:nvSpPr>
          <p:spPr>
            <a:xfrm>
              <a:off x="610081" y="3948960"/>
              <a:ext cx="7261924" cy="1200329"/>
            </a:xfrm>
            <a:prstGeom prst="rect">
              <a:avLst/>
            </a:prstGeom>
            <a:noFill/>
            <a:effectLst>
              <a:outerShdw blurRad="241300" dist="63500" dir="13800000" algn="br" rotWithShape="0">
                <a:schemeClr val="bg1">
                  <a:lumMod val="75000"/>
                  <a:alpha val="80000"/>
                </a:scheme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ko-KR" altLang="en-US" sz="28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공공데이터 분석을 통한 </a:t>
              </a:r>
              <a:endParaRPr lang="en-US" altLang="ko-KR" sz="28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r>
                <a:rPr lang="ko-KR" altLang="en-US" sz="44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제주 재활용 자원 활용 방안 제시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7072AC5-686E-F025-1B02-8F0B97747BA6}"/>
                </a:ext>
              </a:extLst>
            </p:cNvPr>
            <p:cNvSpPr txBox="1"/>
            <p:nvPr/>
          </p:nvSpPr>
          <p:spPr>
            <a:xfrm>
              <a:off x="610081" y="3948960"/>
              <a:ext cx="7261924" cy="1200329"/>
            </a:xfrm>
            <a:prstGeom prst="rect">
              <a:avLst/>
            </a:prstGeom>
            <a:noFill/>
            <a:effectLst>
              <a:outerShdw blurRad="127000" dist="38100" dir="2700000" algn="tl" rotWithShape="0">
                <a:prstClr val="black">
                  <a:alpha val="25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ko-KR" altLang="en-US" sz="28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공공데이터 분석을 통한 </a:t>
              </a:r>
              <a:endParaRPr lang="en-US" altLang="ko-KR" sz="2800" dirty="0">
                <a:solidFill>
                  <a:schemeClr val="bg1"/>
                </a:solidFill>
                <a:latin typeface="페이퍼로지 7 Bold" pitchFamily="2" charset="-127"/>
                <a:ea typeface="페이퍼로지 7 Bold" pitchFamily="2" charset="-127"/>
              </a:endParaRPr>
            </a:p>
            <a:p>
              <a:r>
                <a:rPr lang="ko-KR" altLang="en-US" sz="44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제주 재활용 자원 활용 방안 제시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10165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40000"/>
                <a:lumOff val="60000"/>
              </a:schemeClr>
            </a:gs>
            <a:gs pos="100000">
              <a:schemeClr val="accent3">
                <a:lumMod val="60000"/>
                <a:lumOff val="40000"/>
              </a:schemeClr>
            </a:gs>
          </a:gsLst>
          <a:lin ang="27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A15F24-6731-18B4-4360-F5EB04BF8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D1B1BB43-59BA-7A6B-E89E-874DFB1DCC72}"/>
              </a:ext>
            </a:extLst>
          </p:cNvPr>
          <p:cNvGrpSpPr/>
          <p:nvPr/>
        </p:nvGrpSpPr>
        <p:grpSpPr>
          <a:xfrm>
            <a:off x="1413901" y="3429000"/>
            <a:ext cx="2545081" cy="3718560"/>
            <a:chOff x="1021079" y="3429000"/>
            <a:chExt cx="2545081" cy="3718560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EC29E212-33AA-465B-C706-8282A67F08D6}"/>
                </a:ext>
              </a:extLst>
            </p:cNvPr>
            <p:cNvSpPr/>
            <p:nvPr/>
          </p:nvSpPr>
          <p:spPr>
            <a:xfrm>
              <a:off x="1021079" y="3429000"/>
              <a:ext cx="2545081" cy="3718560"/>
            </a:xfrm>
            <a:prstGeom prst="roundRect">
              <a:avLst>
                <a:gd name="adj" fmla="val 86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7743E21-408C-6136-78EA-3F93D06FDB7F}"/>
                </a:ext>
              </a:extLst>
            </p:cNvPr>
            <p:cNvSpPr txBox="1"/>
            <p:nvPr/>
          </p:nvSpPr>
          <p:spPr>
            <a:xfrm>
              <a:off x="1331581" y="3735140"/>
              <a:ext cx="6799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01</a:t>
              </a:r>
              <a:endPara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F4C3583-A012-EAFC-ABA4-E66341E2EB99}"/>
                </a:ext>
              </a:extLst>
            </p:cNvPr>
            <p:cNvSpPr txBox="1"/>
            <p:nvPr/>
          </p:nvSpPr>
          <p:spPr>
            <a:xfrm>
              <a:off x="1593729" y="4629310"/>
              <a:ext cx="139978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팀원 역할 분담</a:t>
              </a: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0465FF48-3FDF-5E63-7ED7-71865F3F7C1F}"/>
              </a:ext>
            </a:extLst>
          </p:cNvPr>
          <p:cNvGrpSpPr/>
          <p:nvPr/>
        </p:nvGrpSpPr>
        <p:grpSpPr>
          <a:xfrm>
            <a:off x="4793781" y="3416302"/>
            <a:ext cx="2545081" cy="3718560"/>
            <a:chOff x="1021079" y="3429000"/>
            <a:chExt cx="2545081" cy="3718560"/>
          </a:xfrm>
        </p:grpSpPr>
        <p:sp>
          <p:nvSpPr>
            <p:cNvPr id="35" name="사각형: 둥근 모서리 34">
              <a:extLst>
                <a:ext uri="{FF2B5EF4-FFF2-40B4-BE49-F238E27FC236}">
                  <a16:creationId xmlns:a16="http://schemas.microsoft.com/office/drawing/2014/main" id="{808D68D5-2805-8005-C321-4D1E56DA80A1}"/>
                </a:ext>
              </a:extLst>
            </p:cNvPr>
            <p:cNvSpPr/>
            <p:nvPr/>
          </p:nvSpPr>
          <p:spPr>
            <a:xfrm>
              <a:off x="1021079" y="3429000"/>
              <a:ext cx="2545081" cy="3718560"/>
            </a:xfrm>
            <a:prstGeom prst="roundRect">
              <a:avLst>
                <a:gd name="adj" fmla="val 86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B719353-BC4A-12F1-33DE-00E731C0B8B7}"/>
                </a:ext>
              </a:extLst>
            </p:cNvPr>
            <p:cNvSpPr txBox="1"/>
            <p:nvPr/>
          </p:nvSpPr>
          <p:spPr>
            <a:xfrm>
              <a:off x="1331581" y="3735140"/>
              <a:ext cx="6799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02</a:t>
              </a:r>
              <a:endPara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D30258C3-CFC9-49EF-CEFE-37B5D805FB23}"/>
                </a:ext>
              </a:extLst>
            </p:cNvPr>
            <p:cNvSpPr txBox="1"/>
            <p:nvPr/>
          </p:nvSpPr>
          <p:spPr>
            <a:xfrm>
              <a:off x="1414655" y="4638753"/>
              <a:ext cx="175792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프로젝트 진행 상황</a:t>
              </a: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BA9FA776-24D9-3FC5-B924-75C368C6E5F6}"/>
              </a:ext>
            </a:extLst>
          </p:cNvPr>
          <p:cNvGrpSpPr/>
          <p:nvPr/>
        </p:nvGrpSpPr>
        <p:grpSpPr>
          <a:xfrm>
            <a:off x="8173661" y="3429000"/>
            <a:ext cx="2545081" cy="3718560"/>
            <a:chOff x="1021079" y="3429000"/>
            <a:chExt cx="2545081" cy="3718560"/>
          </a:xfrm>
        </p:grpSpPr>
        <p:sp>
          <p:nvSpPr>
            <p:cNvPr id="39" name="사각형: 둥근 모서리 38">
              <a:extLst>
                <a:ext uri="{FF2B5EF4-FFF2-40B4-BE49-F238E27FC236}">
                  <a16:creationId xmlns:a16="http://schemas.microsoft.com/office/drawing/2014/main" id="{9B154396-5EFA-AFA9-845B-EBE2A6B396DB}"/>
                </a:ext>
              </a:extLst>
            </p:cNvPr>
            <p:cNvSpPr/>
            <p:nvPr/>
          </p:nvSpPr>
          <p:spPr>
            <a:xfrm>
              <a:off x="1021079" y="3429000"/>
              <a:ext cx="2545081" cy="3718560"/>
            </a:xfrm>
            <a:prstGeom prst="roundRect">
              <a:avLst>
                <a:gd name="adj" fmla="val 868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C8E1C54-57E3-70E0-B89A-4D29A4D9EDC4}"/>
                </a:ext>
              </a:extLst>
            </p:cNvPr>
            <p:cNvSpPr txBox="1"/>
            <p:nvPr/>
          </p:nvSpPr>
          <p:spPr>
            <a:xfrm>
              <a:off x="1331581" y="3735140"/>
              <a:ext cx="67996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8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03</a:t>
              </a:r>
              <a:endPara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C9557D-9E6A-EC02-E867-A109B95E13DC}"/>
                </a:ext>
              </a:extLst>
            </p:cNvPr>
            <p:cNvSpPr txBox="1"/>
            <p:nvPr/>
          </p:nvSpPr>
          <p:spPr>
            <a:xfrm>
              <a:off x="1800603" y="4626055"/>
              <a:ext cx="98603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추후 계획</a:t>
              </a: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82505A2-0856-3F9F-E3F3-A0741945CAE6}"/>
              </a:ext>
            </a:extLst>
          </p:cNvPr>
          <p:cNvGrpSpPr/>
          <p:nvPr/>
        </p:nvGrpSpPr>
        <p:grpSpPr>
          <a:xfrm>
            <a:off x="1413901" y="1953259"/>
            <a:ext cx="2862643" cy="646332"/>
            <a:chOff x="4005947" y="1965959"/>
            <a:chExt cx="2862643" cy="646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BF078A2-DA1D-2104-6E61-46E8DA713E81}"/>
                </a:ext>
              </a:extLst>
            </p:cNvPr>
            <p:cNvSpPr txBox="1"/>
            <p:nvPr/>
          </p:nvSpPr>
          <p:spPr>
            <a:xfrm>
              <a:off x="4005947" y="1965960"/>
              <a:ext cx="2862643" cy="646331"/>
            </a:xfrm>
            <a:prstGeom prst="rect">
              <a:avLst/>
            </a:prstGeom>
            <a:noFill/>
            <a:effectLst>
              <a:outerShdw blurRad="50800" dist="38100" dir="13740000" algn="br" rotWithShape="0">
                <a:schemeClr val="bg1">
                  <a:alpha val="29000"/>
                </a:scheme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altLang="ko-KR" sz="3600" dirty="0">
                  <a:solidFill>
                    <a:schemeClr val="bg1"/>
                  </a:solidFill>
                  <a:latin typeface="페이퍼로지 8 ExtraBold" pitchFamily="2" charset="-127"/>
                  <a:ea typeface="페이퍼로지 8 ExtraBold" pitchFamily="2" charset="-127"/>
                </a:rPr>
                <a:t>CONTENTS</a:t>
              </a:r>
              <a:endParaRPr lang="ko-KR" altLang="en-US" sz="3600" dirty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endParaRP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524FC80B-962E-9180-51F3-96D170F73B6E}"/>
                </a:ext>
              </a:extLst>
            </p:cNvPr>
            <p:cNvSpPr txBox="1"/>
            <p:nvPr/>
          </p:nvSpPr>
          <p:spPr>
            <a:xfrm>
              <a:off x="4005947" y="1965959"/>
              <a:ext cx="2862643" cy="646331"/>
            </a:xfrm>
            <a:prstGeom prst="rect">
              <a:avLst/>
            </a:prstGeom>
            <a:noFill/>
            <a:effectLst>
              <a:outerShdw blurRad="203200" dist="76200" dir="2700000" algn="tl" rotWithShape="0">
                <a:prstClr val="black">
                  <a:alpha val="16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altLang="ko-KR" sz="3600" dirty="0">
                  <a:solidFill>
                    <a:schemeClr val="bg1"/>
                  </a:solidFill>
                  <a:latin typeface="페이퍼로지 8 ExtraBold" pitchFamily="2" charset="-127"/>
                  <a:ea typeface="페이퍼로지 8 ExtraBold" pitchFamily="2" charset="-127"/>
                </a:rPr>
                <a:t>CONTENTS</a:t>
              </a:r>
              <a:endParaRPr lang="ko-KR" altLang="en-US" sz="3600" dirty="0">
                <a:solidFill>
                  <a:schemeClr val="bg1"/>
                </a:solidFill>
                <a:latin typeface="페이퍼로지 8 ExtraBold" pitchFamily="2" charset="-127"/>
                <a:ea typeface="페이퍼로지 8 ExtraBold" pitchFamily="2" charset="-127"/>
              </a:endParaRPr>
            </a:p>
          </p:txBody>
        </p:sp>
      </p:grpSp>
      <p:pic>
        <p:nvPicPr>
          <p:cNvPr id="3" name="그래픽 2" descr="프레젠테이션 체크리스트 단색으로 채워진">
            <a:extLst>
              <a:ext uri="{FF2B5EF4-FFF2-40B4-BE49-F238E27FC236}">
                <a16:creationId xmlns:a16="http://schemas.microsoft.com/office/drawing/2014/main" id="{08B8BEF7-7CEF-C69B-8D6E-4FB7E929ACD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7027" y="5275582"/>
            <a:ext cx="1417945" cy="1417945"/>
          </a:xfrm>
          <a:prstGeom prst="rect">
            <a:avLst/>
          </a:prstGeom>
        </p:spPr>
      </p:pic>
      <p:pic>
        <p:nvPicPr>
          <p:cNvPr id="5" name="그래픽 4" descr="남자 집단 단색으로 채워진">
            <a:extLst>
              <a:ext uri="{FF2B5EF4-FFF2-40B4-BE49-F238E27FC236}">
                <a16:creationId xmlns:a16="http://schemas.microsoft.com/office/drawing/2014/main" id="{27140753-1721-48C0-B65D-1F205A9280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45742" y="5343854"/>
            <a:ext cx="1281400" cy="1281400"/>
          </a:xfrm>
          <a:prstGeom prst="rect">
            <a:avLst/>
          </a:prstGeom>
        </p:spPr>
      </p:pic>
      <p:pic>
        <p:nvPicPr>
          <p:cNvPr id="7" name="그래픽 6" descr="갈매기형 화살표 단색으로 채워진">
            <a:extLst>
              <a:ext uri="{FF2B5EF4-FFF2-40B4-BE49-F238E27FC236}">
                <a16:creationId xmlns:a16="http://schemas.microsoft.com/office/drawing/2014/main" id="{79563E1E-E11D-77AF-8B95-A4FFECB158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16372" y="5316758"/>
            <a:ext cx="1259656" cy="1259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389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D3300-2CEB-22DC-E580-F8DFAEAA0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01337868-FADD-5663-0C44-F09577448EC9}"/>
              </a:ext>
            </a:extLst>
          </p:cNvPr>
          <p:cNvGrpSpPr/>
          <p:nvPr/>
        </p:nvGrpSpPr>
        <p:grpSpPr>
          <a:xfrm>
            <a:off x="807230" y="3217935"/>
            <a:ext cx="2989006" cy="2389238"/>
            <a:chOff x="4375355" y="2084439"/>
            <a:chExt cx="2153264" cy="1740309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BEC62F27-E3B2-A140-BD18-AAABEDA4D5F7}"/>
                </a:ext>
              </a:extLst>
            </p:cNvPr>
            <p:cNvSpPr/>
            <p:nvPr/>
          </p:nvSpPr>
          <p:spPr>
            <a:xfrm>
              <a:off x="4375355" y="2084439"/>
              <a:ext cx="2153264" cy="1740309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52400" dist="127000" dir="13500000" algn="r" rotWithShape="0">
                <a:schemeClr val="bg1">
                  <a:alpha val="7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6A9986EE-2316-0062-04AC-2450D99C4868}"/>
                </a:ext>
              </a:extLst>
            </p:cNvPr>
            <p:cNvSpPr/>
            <p:nvPr/>
          </p:nvSpPr>
          <p:spPr>
            <a:xfrm>
              <a:off x="4375355" y="2084439"/>
              <a:ext cx="2153264" cy="1740309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제주 및 전국</a:t>
              </a:r>
              <a:endPara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재활용 폐기물 관련</a:t>
              </a:r>
              <a:endPara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데이터 수집</a:t>
              </a: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2F32854-60EC-91E4-84C5-AAEDFABEF76D}"/>
              </a:ext>
            </a:extLst>
          </p:cNvPr>
          <p:cNvSpPr txBox="1"/>
          <p:nvPr/>
        </p:nvSpPr>
        <p:spPr>
          <a:xfrm>
            <a:off x="4831872" y="422787"/>
            <a:ext cx="252825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팀원 역할 분배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6128B31A-21E7-EC8F-E6F9-3ACC155A9CE3}"/>
              </a:ext>
            </a:extLst>
          </p:cNvPr>
          <p:cNvGrpSpPr/>
          <p:nvPr/>
        </p:nvGrpSpPr>
        <p:grpSpPr>
          <a:xfrm>
            <a:off x="4631978" y="3217935"/>
            <a:ext cx="2989006" cy="2389238"/>
            <a:chOff x="4375355" y="2084439"/>
            <a:chExt cx="2153264" cy="1740309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428D035B-E3E1-64ED-B4F8-7925FF68EF65}"/>
                </a:ext>
              </a:extLst>
            </p:cNvPr>
            <p:cNvSpPr/>
            <p:nvPr/>
          </p:nvSpPr>
          <p:spPr>
            <a:xfrm>
              <a:off x="4375355" y="2084439"/>
              <a:ext cx="2153264" cy="1740309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52400" dist="127000" dir="13500000" algn="r" rotWithShape="0">
                <a:schemeClr val="bg1">
                  <a:alpha val="7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02925F5C-378D-03B0-2067-228D569B385E}"/>
                </a:ext>
              </a:extLst>
            </p:cNvPr>
            <p:cNvSpPr/>
            <p:nvPr/>
          </p:nvSpPr>
          <p:spPr>
            <a:xfrm>
              <a:off x="4375355" y="2084439"/>
              <a:ext cx="2153264" cy="1740309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수집된 데이터</a:t>
              </a:r>
              <a:endPara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dirty="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전처리</a:t>
              </a:r>
              <a:r>
                <a:rPr lang="ko-KR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 및 도표 시각화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21A868F4-3C86-C44D-D634-DD6BEF8362BE}"/>
              </a:ext>
            </a:extLst>
          </p:cNvPr>
          <p:cNvGrpSpPr/>
          <p:nvPr/>
        </p:nvGrpSpPr>
        <p:grpSpPr>
          <a:xfrm>
            <a:off x="8456726" y="3217935"/>
            <a:ext cx="2989006" cy="2389238"/>
            <a:chOff x="4375355" y="2084439"/>
            <a:chExt cx="2153264" cy="1740309"/>
          </a:xfrm>
        </p:grpSpPr>
        <p:sp>
          <p:nvSpPr>
            <p:cNvPr id="10" name="사각형: 둥근 모서리 9">
              <a:extLst>
                <a:ext uri="{FF2B5EF4-FFF2-40B4-BE49-F238E27FC236}">
                  <a16:creationId xmlns:a16="http://schemas.microsoft.com/office/drawing/2014/main" id="{33530E89-553F-3DA5-1AA3-2620AE3F2B61}"/>
                </a:ext>
              </a:extLst>
            </p:cNvPr>
            <p:cNvSpPr/>
            <p:nvPr/>
          </p:nvSpPr>
          <p:spPr>
            <a:xfrm>
              <a:off x="4375355" y="2084439"/>
              <a:ext cx="2153264" cy="1740309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52400" dist="127000" dir="13500000" algn="r" rotWithShape="0">
                <a:schemeClr val="bg1">
                  <a:alpha val="7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사각형: 둥근 모서리 10">
              <a:extLst>
                <a:ext uri="{FF2B5EF4-FFF2-40B4-BE49-F238E27FC236}">
                  <a16:creationId xmlns:a16="http://schemas.microsoft.com/office/drawing/2014/main" id="{2FE69915-9013-1D68-98B4-344E41CB6015}"/>
                </a:ext>
              </a:extLst>
            </p:cNvPr>
            <p:cNvSpPr/>
            <p:nvPr/>
          </p:nvSpPr>
          <p:spPr>
            <a:xfrm>
              <a:off x="4375355" y="2084439"/>
              <a:ext cx="2153264" cy="1740309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r>
                <a:rPr lang="ko-KR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프로젝트 개발</a:t>
              </a:r>
              <a:endParaRPr lang="en-US" altLang="ko-KR" dirty="0">
                <a:solidFill>
                  <a:schemeClr val="tx1">
                    <a:lumMod val="50000"/>
                    <a:lumOff val="50000"/>
                  </a:schemeClr>
                </a:solidFill>
                <a:latin typeface="페이퍼로지 6 SemiBold" pitchFamily="2" charset="-127"/>
                <a:ea typeface="페이퍼로지 6 SemiBold" pitchFamily="2" charset="-127"/>
              </a:endParaRPr>
            </a:p>
            <a:p>
              <a:pPr algn="ctr">
                <a:lnSpc>
                  <a:spcPct val="150000"/>
                </a:lnSpc>
              </a:pPr>
              <a:r>
                <a:rPr lang="ko-KR" altLang="en-US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계획 및 진행</a:t>
              </a: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E08C87EB-1995-D609-828C-82F3E25DDE13}"/>
              </a:ext>
            </a:extLst>
          </p:cNvPr>
          <p:cNvSpPr txBox="1"/>
          <p:nvPr/>
        </p:nvSpPr>
        <p:spPr>
          <a:xfrm>
            <a:off x="2793653" y="1044055"/>
            <a:ext cx="6604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3"/>
                </a:solidFill>
                <a:latin typeface="페이퍼로지 5 Medium" pitchFamily="2" charset="-127"/>
                <a:ea typeface="페이퍼로지 5 Medium" pitchFamily="2" charset="-127"/>
              </a:rPr>
              <a:t>각각 조원의 장단점을 고려하여 역할을 </a:t>
            </a:r>
            <a:r>
              <a:rPr lang="en-US" altLang="ko-KR" dirty="0">
                <a:solidFill>
                  <a:schemeClr val="accent3"/>
                </a:solidFill>
                <a:latin typeface="페이퍼로지 5 Medium" pitchFamily="2" charset="-127"/>
                <a:ea typeface="페이퍼로지 5 Medium" pitchFamily="2" charset="-127"/>
              </a:rPr>
              <a:t>3</a:t>
            </a:r>
            <a:r>
              <a:rPr lang="ko-KR" altLang="en-US" dirty="0">
                <a:solidFill>
                  <a:schemeClr val="accent3"/>
                </a:solidFill>
                <a:latin typeface="페이퍼로지 5 Medium" pitchFamily="2" charset="-127"/>
                <a:ea typeface="페이퍼로지 5 Medium" pitchFamily="2" charset="-127"/>
              </a:rPr>
              <a:t>분야로 나누어 </a:t>
            </a:r>
            <a:r>
              <a:rPr lang="en-US" altLang="ko-KR" dirty="0">
                <a:solidFill>
                  <a:schemeClr val="accent3"/>
                </a:solidFill>
                <a:latin typeface="페이퍼로지 5 Medium" pitchFamily="2" charset="-127"/>
                <a:ea typeface="페이퍼로지 5 Medium" pitchFamily="2" charset="-127"/>
              </a:rPr>
              <a:t>2</a:t>
            </a:r>
            <a:r>
              <a:rPr lang="ko-KR" altLang="en-US" dirty="0">
                <a:solidFill>
                  <a:schemeClr val="accent3"/>
                </a:solidFill>
                <a:latin typeface="페이퍼로지 5 Medium" pitchFamily="2" charset="-127"/>
                <a:ea typeface="페이퍼로지 5 Medium" pitchFamily="2" charset="-127"/>
              </a:rPr>
              <a:t>인 </a:t>
            </a:r>
            <a:r>
              <a:rPr lang="en-US" altLang="ko-KR" dirty="0">
                <a:solidFill>
                  <a:schemeClr val="accent3"/>
                </a:solidFill>
                <a:latin typeface="페이퍼로지 5 Medium" pitchFamily="2" charset="-127"/>
                <a:ea typeface="페이퍼로지 5 Medium" pitchFamily="2" charset="-127"/>
              </a:rPr>
              <a:t>1</a:t>
            </a:r>
            <a:r>
              <a:rPr lang="ko-KR" altLang="en-US" dirty="0">
                <a:solidFill>
                  <a:schemeClr val="accent3"/>
                </a:solidFill>
                <a:latin typeface="페이퍼로지 5 Medium" pitchFamily="2" charset="-127"/>
                <a:ea typeface="페이퍼로지 5 Medium" pitchFamily="2" charset="-127"/>
              </a:rPr>
              <a:t>조로 배정</a:t>
            </a: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8DE2CDF-3D69-BDCF-4BFB-72E292F10399}"/>
              </a:ext>
            </a:extLst>
          </p:cNvPr>
          <p:cNvSpPr/>
          <p:nvPr/>
        </p:nvSpPr>
        <p:spPr>
          <a:xfrm>
            <a:off x="1290813" y="2484932"/>
            <a:ext cx="2031507" cy="506608"/>
          </a:xfrm>
          <a:prstGeom prst="roundRect">
            <a:avLst>
              <a:gd name="adj" fmla="val 50000"/>
            </a:avLst>
          </a:prstGeom>
          <a:solidFill>
            <a:srgbClr val="EBECF0"/>
          </a:solidFill>
          <a:ln>
            <a:noFill/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데이터 수집</a:t>
            </a: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49A47E02-CA9C-C02A-247C-AA36C6A31836}"/>
              </a:ext>
            </a:extLst>
          </p:cNvPr>
          <p:cNvSpPr/>
          <p:nvPr/>
        </p:nvSpPr>
        <p:spPr>
          <a:xfrm>
            <a:off x="5110725" y="2484932"/>
            <a:ext cx="2031507" cy="506608"/>
          </a:xfrm>
          <a:prstGeom prst="roundRect">
            <a:avLst>
              <a:gd name="adj" fmla="val 50000"/>
            </a:avLst>
          </a:prstGeom>
          <a:solidFill>
            <a:srgbClr val="EBECF0"/>
          </a:solidFill>
          <a:ln>
            <a:noFill/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데이터 </a:t>
            </a:r>
            <a:r>
              <a:rPr lang="ko-KR" altLang="en-US" sz="2000" dirty="0" err="1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전처리</a:t>
            </a:r>
            <a:endParaRPr lang="ko-KR" altLang="en-US" sz="2000" dirty="0">
              <a:solidFill>
                <a:schemeClr val="tx1"/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64977E48-BD62-3629-2EBD-88F4D80BB272}"/>
              </a:ext>
            </a:extLst>
          </p:cNvPr>
          <p:cNvSpPr/>
          <p:nvPr/>
        </p:nvSpPr>
        <p:spPr>
          <a:xfrm>
            <a:off x="8935475" y="2484932"/>
            <a:ext cx="2031507" cy="506608"/>
          </a:xfrm>
          <a:prstGeom prst="roundRect">
            <a:avLst>
              <a:gd name="adj" fmla="val 50000"/>
            </a:avLst>
          </a:prstGeom>
          <a:solidFill>
            <a:srgbClr val="EBECF0"/>
          </a:solidFill>
          <a:ln>
            <a:noFill/>
          </a:ln>
          <a:effectLst>
            <a:innerShdw blurRad="139700" dist="88900" dir="13200000">
              <a:prstClr val="black">
                <a:alpha val="13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페이퍼로지 7 Bold" pitchFamily="2" charset="-127"/>
                <a:ea typeface="페이퍼로지 7 Bold" pitchFamily="2" charset="-127"/>
              </a:rPr>
              <a:t>프로젝트 개발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0D7719-B4D1-948E-E93A-EF107002A327}"/>
              </a:ext>
            </a:extLst>
          </p:cNvPr>
          <p:cNvSpPr txBox="1"/>
          <p:nvPr/>
        </p:nvSpPr>
        <p:spPr>
          <a:xfrm>
            <a:off x="455713" y="6441440"/>
            <a:ext cx="835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페이퍼로지 1 Thin" pitchFamily="2" charset="-127"/>
                <a:ea typeface="페이퍼로지 1 Thin" pitchFamily="2" charset="-127"/>
              </a:rPr>
              <a:t>Team 4</a:t>
            </a:r>
            <a:endParaRPr lang="ko-KR" altLang="en-US" sz="1400" dirty="0">
              <a:solidFill>
                <a:schemeClr val="bg1">
                  <a:lumMod val="85000"/>
                </a:schemeClr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967FF2-97E7-8D27-3F0E-0DF080A2AC12}"/>
              </a:ext>
            </a:extLst>
          </p:cNvPr>
          <p:cNvSpPr txBox="1"/>
          <p:nvPr/>
        </p:nvSpPr>
        <p:spPr>
          <a:xfrm>
            <a:off x="455713" y="284287"/>
            <a:ext cx="12987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01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팀원 역할 분담</a:t>
            </a:r>
          </a:p>
        </p:txBody>
      </p:sp>
    </p:spTree>
    <p:extLst>
      <p:ext uri="{BB962C8B-B14F-4D97-AF65-F5344CB8AC3E}">
        <p14:creationId xmlns:p14="http://schemas.microsoft.com/office/powerpoint/2010/main" val="4923707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44764A-8B57-55F8-327A-C32E8AE53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9BAE475A-951C-8D15-5E77-7C74197B828D}"/>
              </a:ext>
            </a:extLst>
          </p:cNvPr>
          <p:cNvSpPr txBox="1"/>
          <p:nvPr/>
        </p:nvSpPr>
        <p:spPr>
          <a:xfrm>
            <a:off x="455713" y="6441440"/>
            <a:ext cx="835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페이퍼로지 1 Thin" pitchFamily="2" charset="-127"/>
                <a:ea typeface="페이퍼로지 1 Thin" pitchFamily="2" charset="-127"/>
              </a:rPr>
              <a:t>Team 4</a:t>
            </a:r>
            <a:endParaRPr lang="ko-KR" altLang="en-US" sz="1400" dirty="0">
              <a:solidFill>
                <a:schemeClr val="bg1">
                  <a:lumMod val="85000"/>
                </a:schemeClr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01AB35F-E14C-C430-B38B-4FD6152ACEEA}"/>
              </a:ext>
            </a:extLst>
          </p:cNvPr>
          <p:cNvSpPr txBox="1"/>
          <p:nvPr/>
        </p:nvSpPr>
        <p:spPr>
          <a:xfrm>
            <a:off x="5192547" y="561286"/>
            <a:ext cx="18069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주제 선정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9218265-94DE-B0C3-4432-8A3BB129CA4C}"/>
              </a:ext>
            </a:extLst>
          </p:cNvPr>
          <p:cNvSpPr txBox="1"/>
          <p:nvPr/>
        </p:nvSpPr>
        <p:spPr>
          <a:xfrm>
            <a:off x="3248104" y="1146061"/>
            <a:ext cx="5695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팀원 </a:t>
            </a:r>
            <a:r>
              <a:rPr lang="ko-KR" altLang="en-US" dirty="0" err="1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한명</a:t>
            </a:r>
            <a:r>
              <a:rPr lang="ko-KR" altLang="en-US" dirty="0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 당 주제를 </a:t>
            </a:r>
            <a:r>
              <a:rPr lang="en-US" altLang="ko-KR" dirty="0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1</a:t>
            </a:r>
            <a:r>
              <a:rPr lang="ko-KR" altLang="en-US" dirty="0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개씩 제시하고</a:t>
            </a:r>
            <a:r>
              <a:rPr lang="en-US" altLang="ko-KR" dirty="0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lang="ko-KR" altLang="en-US" dirty="0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투표를 통해 주제를 선정</a:t>
            </a:r>
            <a:endParaRPr lang="en-US" altLang="ko-KR" dirty="0">
              <a:solidFill>
                <a:schemeClr val="accent3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AEE6EB-4B83-8836-00DD-91B4CBFD12FF}"/>
              </a:ext>
            </a:extLst>
          </p:cNvPr>
          <p:cNvSpPr txBox="1"/>
          <p:nvPr/>
        </p:nvSpPr>
        <p:spPr>
          <a:xfrm>
            <a:off x="455713" y="284287"/>
            <a:ext cx="15680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02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프로젝트 진행 상황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5E74256-DF34-BBBE-384A-2E2B2CCB1317}"/>
              </a:ext>
            </a:extLst>
          </p:cNvPr>
          <p:cNvSpPr/>
          <p:nvPr/>
        </p:nvSpPr>
        <p:spPr>
          <a:xfrm>
            <a:off x="6471664" y="5497628"/>
            <a:ext cx="965200" cy="307778"/>
          </a:xfrm>
          <a:prstGeom prst="roundRect">
            <a:avLst/>
          </a:prstGeom>
          <a:solidFill>
            <a:srgbClr val="EBECF0"/>
          </a:solidFill>
          <a:ln>
            <a:noFill/>
          </a:ln>
          <a:effectLst>
            <a:outerShdw blurRad="152400" dist="127000" dir="13500000" algn="r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0563DAF-6576-6C89-29D9-B06AE531AC73}"/>
              </a:ext>
            </a:extLst>
          </p:cNvPr>
          <p:cNvGrpSpPr/>
          <p:nvPr/>
        </p:nvGrpSpPr>
        <p:grpSpPr>
          <a:xfrm>
            <a:off x="1654169" y="5497630"/>
            <a:ext cx="965200" cy="307778"/>
            <a:chOff x="1654169" y="3619500"/>
            <a:chExt cx="965200" cy="255524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D170122D-9A7C-FD19-3B7F-684C0BE1094F}"/>
                </a:ext>
              </a:extLst>
            </p:cNvPr>
            <p:cNvSpPr/>
            <p:nvPr/>
          </p:nvSpPr>
          <p:spPr>
            <a:xfrm>
              <a:off x="1654169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52400" dist="127000" dir="13500000" algn="r" rotWithShape="0">
                <a:schemeClr val="bg1">
                  <a:alpha val="7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EBF9776B-CC3D-8B88-0270-EACBD4DCA4AE}"/>
                </a:ext>
              </a:extLst>
            </p:cNvPr>
            <p:cNvSpPr/>
            <p:nvPr/>
          </p:nvSpPr>
          <p:spPr>
            <a:xfrm>
              <a:off x="1654169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176408C-7896-A0AE-F00D-4D22DC53B53F}"/>
              </a:ext>
            </a:extLst>
          </p:cNvPr>
          <p:cNvGrpSpPr/>
          <p:nvPr/>
        </p:nvGrpSpPr>
        <p:grpSpPr>
          <a:xfrm>
            <a:off x="3200180" y="5497630"/>
            <a:ext cx="965200" cy="307778"/>
            <a:chOff x="3200180" y="4737100"/>
            <a:chExt cx="965200" cy="143764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0E0FF086-9DFA-32AF-8B9D-514CE5C32090}"/>
                </a:ext>
              </a:extLst>
            </p:cNvPr>
            <p:cNvSpPr/>
            <p:nvPr/>
          </p:nvSpPr>
          <p:spPr>
            <a:xfrm>
              <a:off x="3200180" y="4737100"/>
              <a:ext cx="965200" cy="14376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52400" dist="127000" dir="13500000" algn="r" rotWithShape="0">
                <a:schemeClr val="bg1">
                  <a:alpha val="7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C235BFF4-2145-9C4D-3601-31C80375C91B}"/>
                </a:ext>
              </a:extLst>
            </p:cNvPr>
            <p:cNvSpPr/>
            <p:nvPr/>
          </p:nvSpPr>
          <p:spPr>
            <a:xfrm>
              <a:off x="3200180" y="4737100"/>
              <a:ext cx="965200" cy="14376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DBCA430-358D-D90D-511B-2397FA84E44E}"/>
              </a:ext>
            </a:extLst>
          </p:cNvPr>
          <p:cNvGrpSpPr/>
          <p:nvPr/>
        </p:nvGrpSpPr>
        <p:grpSpPr>
          <a:xfrm>
            <a:off x="4748908" y="5497630"/>
            <a:ext cx="965200" cy="307778"/>
            <a:chOff x="4748908" y="3619500"/>
            <a:chExt cx="965200" cy="255524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1B0BBE86-917D-DC93-CFDE-369E8A15FBEA}"/>
                </a:ext>
              </a:extLst>
            </p:cNvPr>
            <p:cNvSpPr/>
            <p:nvPr/>
          </p:nvSpPr>
          <p:spPr>
            <a:xfrm>
              <a:off x="4748908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52400" dist="127000" dir="13500000" algn="r" rotWithShape="0">
                <a:schemeClr val="bg1">
                  <a:alpha val="7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3F69FA6A-93BC-0A86-4AFD-3EA51C4310F5}"/>
                </a:ext>
              </a:extLst>
            </p:cNvPr>
            <p:cNvSpPr/>
            <p:nvPr/>
          </p:nvSpPr>
          <p:spPr>
            <a:xfrm>
              <a:off x="4748908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41968BF-AA91-F1E5-809D-C13A55B203AC}"/>
              </a:ext>
            </a:extLst>
          </p:cNvPr>
          <p:cNvSpPr/>
          <p:nvPr/>
        </p:nvSpPr>
        <p:spPr>
          <a:xfrm>
            <a:off x="6471664" y="5497628"/>
            <a:ext cx="965200" cy="307779"/>
          </a:xfrm>
          <a:prstGeom prst="roundRect">
            <a:avLst/>
          </a:prstGeom>
          <a:solidFill>
            <a:srgbClr val="EBECF0"/>
          </a:soli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EE3036AF-AC4E-F22D-2377-3CBD1E9CB0F8}"/>
              </a:ext>
            </a:extLst>
          </p:cNvPr>
          <p:cNvGrpSpPr/>
          <p:nvPr/>
        </p:nvGrpSpPr>
        <p:grpSpPr>
          <a:xfrm>
            <a:off x="8022146" y="5497628"/>
            <a:ext cx="965200" cy="307780"/>
            <a:chOff x="8022146" y="3619500"/>
            <a:chExt cx="965200" cy="255524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C2DAECED-157A-F7B1-9610-66C5208877BC}"/>
                </a:ext>
              </a:extLst>
            </p:cNvPr>
            <p:cNvSpPr/>
            <p:nvPr/>
          </p:nvSpPr>
          <p:spPr>
            <a:xfrm>
              <a:off x="8022146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52400" dist="127000" dir="13500000" algn="r" rotWithShape="0">
                <a:schemeClr val="bg1">
                  <a:alpha val="7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E4225213-BAA3-20E1-0EB5-C14885C41895}"/>
                </a:ext>
              </a:extLst>
            </p:cNvPr>
            <p:cNvSpPr/>
            <p:nvPr/>
          </p:nvSpPr>
          <p:spPr>
            <a:xfrm>
              <a:off x="8022146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1C3E970-9B19-4F36-819E-D10E51E81934}"/>
              </a:ext>
            </a:extLst>
          </p:cNvPr>
          <p:cNvGrpSpPr/>
          <p:nvPr/>
        </p:nvGrpSpPr>
        <p:grpSpPr>
          <a:xfrm>
            <a:off x="9572628" y="5497628"/>
            <a:ext cx="965200" cy="307780"/>
            <a:chOff x="9572628" y="3619500"/>
            <a:chExt cx="965200" cy="2555240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EC436F0D-A33F-58B4-B598-0AFA388778FE}"/>
                </a:ext>
              </a:extLst>
            </p:cNvPr>
            <p:cNvSpPr/>
            <p:nvPr/>
          </p:nvSpPr>
          <p:spPr>
            <a:xfrm>
              <a:off x="9572628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52400" dist="127000" dir="13500000" algn="r" rotWithShape="0">
                <a:schemeClr val="bg1">
                  <a:alpha val="7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5D12840D-BECC-7587-2B14-BFF1276E5D04}"/>
                </a:ext>
              </a:extLst>
            </p:cNvPr>
            <p:cNvSpPr/>
            <p:nvPr/>
          </p:nvSpPr>
          <p:spPr>
            <a:xfrm>
              <a:off x="9572628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5A65DDA9-4359-651D-0923-8F7715A2D2DE}"/>
              </a:ext>
            </a:extLst>
          </p:cNvPr>
          <p:cNvSpPr txBox="1"/>
          <p:nvPr/>
        </p:nvSpPr>
        <p:spPr>
          <a:xfrm>
            <a:off x="1559940" y="6033497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관광 다이어리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D85A78-EAA4-3743-85A2-4875BA209D6A}"/>
              </a:ext>
            </a:extLst>
          </p:cNvPr>
          <p:cNvSpPr txBox="1"/>
          <p:nvPr/>
        </p:nvSpPr>
        <p:spPr>
          <a:xfrm>
            <a:off x="3352401" y="6033497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페이퍼로지 5 Medium" pitchFamily="2" charset="-127"/>
                <a:ea typeface="페이퍼로지 5 Medium" pitchFamily="2" charset="-127"/>
              </a:rPr>
              <a:t>지하수</a:t>
            </a:r>
            <a:endParaRPr lang="ko-KR" alt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FCCA68F-311A-7652-4717-7B8BBE7CF481}"/>
              </a:ext>
            </a:extLst>
          </p:cNvPr>
          <p:cNvSpPr txBox="1"/>
          <p:nvPr/>
        </p:nvSpPr>
        <p:spPr>
          <a:xfrm>
            <a:off x="4616567" y="6022832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야간 생활시설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EAE7AD-D5C0-9585-ED90-52DB384267C5}"/>
              </a:ext>
            </a:extLst>
          </p:cNvPr>
          <p:cNvSpPr txBox="1"/>
          <p:nvPr/>
        </p:nvSpPr>
        <p:spPr>
          <a:xfrm>
            <a:off x="6448109" y="6022832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페이퍼로지 5 Medium" pitchFamily="2" charset="-127"/>
                <a:ea typeface="페이퍼로지 5 Medium" pitchFamily="2" charset="-127"/>
              </a:rPr>
              <a:t>제주 재활용</a:t>
            </a:r>
            <a:endParaRPr lang="ko-KR" alt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3DF8C09-8D0A-8E53-BD7E-8EC2C24B8A74}"/>
              </a:ext>
            </a:extLst>
          </p:cNvPr>
          <p:cNvSpPr txBox="1"/>
          <p:nvPr/>
        </p:nvSpPr>
        <p:spPr>
          <a:xfrm>
            <a:off x="7816897" y="6022832"/>
            <a:ext cx="1375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페이퍼로지 5 Medium" pitchFamily="2" charset="-127"/>
                <a:ea typeface="페이퍼로지 5 Medium" pitchFamily="2" charset="-127"/>
              </a:rPr>
              <a:t>버스 맞춤 시간표</a:t>
            </a:r>
            <a:endParaRPr lang="ko-KR" alt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958E8C4-D972-C55F-01A9-CBBD54F8BCD6}"/>
              </a:ext>
            </a:extLst>
          </p:cNvPr>
          <p:cNvSpPr txBox="1"/>
          <p:nvPr/>
        </p:nvSpPr>
        <p:spPr>
          <a:xfrm>
            <a:off x="9452986" y="6027940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페이퍼로지 5 Medium" pitchFamily="2" charset="-127"/>
                <a:ea typeface="페이퍼로지 5 Medium" pitchFamily="2" charset="-127"/>
              </a:rPr>
              <a:t>제주 주차 정보</a:t>
            </a:r>
            <a:endParaRPr lang="ko-KR" alt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461927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0F7C0F-E85F-C807-3F51-868E038C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08D362D0-86FE-F80D-EB80-757052342684}"/>
              </a:ext>
            </a:extLst>
          </p:cNvPr>
          <p:cNvSpPr txBox="1"/>
          <p:nvPr/>
        </p:nvSpPr>
        <p:spPr>
          <a:xfrm>
            <a:off x="455713" y="6441440"/>
            <a:ext cx="835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페이퍼로지 1 Thin" pitchFamily="2" charset="-127"/>
                <a:ea typeface="페이퍼로지 1 Thin" pitchFamily="2" charset="-127"/>
              </a:rPr>
              <a:t>Team 4</a:t>
            </a:r>
            <a:endParaRPr lang="ko-KR" altLang="en-US" sz="1400" dirty="0">
              <a:solidFill>
                <a:schemeClr val="bg1">
                  <a:lumMod val="85000"/>
                </a:schemeClr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480D1F-5F2E-47E1-894E-DBC0F01B70B9}"/>
              </a:ext>
            </a:extLst>
          </p:cNvPr>
          <p:cNvSpPr txBox="1"/>
          <p:nvPr/>
        </p:nvSpPr>
        <p:spPr>
          <a:xfrm>
            <a:off x="5192547" y="561286"/>
            <a:ext cx="18069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주제 선정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5836C79-F9E3-98A2-CAC4-A3E4F6406156}"/>
              </a:ext>
            </a:extLst>
          </p:cNvPr>
          <p:cNvSpPr txBox="1"/>
          <p:nvPr/>
        </p:nvSpPr>
        <p:spPr>
          <a:xfrm>
            <a:off x="3248104" y="1146061"/>
            <a:ext cx="56957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팀원 </a:t>
            </a:r>
            <a:r>
              <a:rPr lang="ko-KR" altLang="en-US" dirty="0" err="1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한명</a:t>
            </a:r>
            <a:r>
              <a:rPr lang="ko-KR" altLang="en-US" dirty="0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 당 주제를 </a:t>
            </a:r>
            <a:r>
              <a:rPr lang="en-US" altLang="ko-KR" dirty="0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1</a:t>
            </a:r>
            <a:r>
              <a:rPr lang="ko-KR" altLang="en-US" dirty="0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개씩 제시하고</a:t>
            </a:r>
            <a:r>
              <a:rPr lang="en-US" altLang="ko-KR" dirty="0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, </a:t>
            </a:r>
            <a:r>
              <a:rPr lang="ko-KR" altLang="en-US" dirty="0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투표를 통해 주제를 선정</a:t>
            </a:r>
            <a:endParaRPr lang="en-US" altLang="ko-KR" dirty="0">
              <a:solidFill>
                <a:schemeClr val="accent3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8BDB0F-CE35-8AF4-C242-FA3B56DE6FA8}"/>
              </a:ext>
            </a:extLst>
          </p:cNvPr>
          <p:cNvSpPr txBox="1"/>
          <p:nvPr/>
        </p:nvSpPr>
        <p:spPr>
          <a:xfrm>
            <a:off x="455713" y="284287"/>
            <a:ext cx="15680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02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프로젝트 진행 상황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AE096860-081F-663E-5051-345A2942E7F1}"/>
              </a:ext>
            </a:extLst>
          </p:cNvPr>
          <p:cNvSpPr/>
          <p:nvPr/>
        </p:nvSpPr>
        <p:spPr>
          <a:xfrm>
            <a:off x="6471664" y="2235200"/>
            <a:ext cx="965200" cy="3939540"/>
          </a:xfrm>
          <a:prstGeom prst="roundRect">
            <a:avLst/>
          </a:prstGeom>
          <a:solidFill>
            <a:srgbClr val="EBECF0"/>
          </a:solidFill>
          <a:ln>
            <a:noFill/>
          </a:ln>
          <a:effectLst>
            <a:outerShdw blurRad="152400" dist="127000" dir="13500000" algn="r" rotWithShape="0">
              <a:schemeClr val="bg1">
                <a:alpha val="78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3D818D73-6ED2-E1ED-3D68-F4196D784347}"/>
              </a:ext>
            </a:extLst>
          </p:cNvPr>
          <p:cNvGrpSpPr/>
          <p:nvPr/>
        </p:nvGrpSpPr>
        <p:grpSpPr>
          <a:xfrm>
            <a:off x="1654169" y="3250168"/>
            <a:ext cx="965200" cy="2555240"/>
            <a:chOff x="1654169" y="3619500"/>
            <a:chExt cx="965200" cy="255524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AEF13A2B-3864-D2B3-DC19-01EF3FAA5CBE}"/>
                </a:ext>
              </a:extLst>
            </p:cNvPr>
            <p:cNvSpPr/>
            <p:nvPr/>
          </p:nvSpPr>
          <p:spPr>
            <a:xfrm>
              <a:off x="1654169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52400" dist="127000" dir="13500000" algn="r" rotWithShape="0">
                <a:schemeClr val="bg1">
                  <a:alpha val="7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66897ED6-83F3-3BD7-F5BD-47681BC17C05}"/>
                </a:ext>
              </a:extLst>
            </p:cNvPr>
            <p:cNvSpPr/>
            <p:nvPr/>
          </p:nvSpPr>
          <p:spPr>
            <a:xfrm>
              <a:off x="1654169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8070FA9F-6D30-8722-F2CD-BDC285888DEB}"/>
              </a:ext>
            </a:extLst>
          </p:cNvPr>
          <p:cNvGrpSpPr/>
          <p:nvPr/>
        </p:nvGrpSpPr>
        <p:grpSpPr>
          <a:xfrm>
            <a:off x="3200180" y="4367768"/>
            <a:ext cx="965200" cy="1437640"/>
            <a:chOff x="3200180" y="4737100"/>
            <a:chExt cx="965200" cy="143764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51392E56-CDA2-86ED-AD3F-CA604C0F7A4C}"/>
                </a:ext>
              </a:extLst>
            </p:cNvPr>
            <p:cNvSpPr/>
            <p:nvPr/>
          </p:nvSpPr>
          <p:spPr>
            <a:xfrm>
              <a:off x="3200180" y="4737100"/>
              <a:ext cx="965200" cy="14376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52400" dist="127000" dir="13500000" algn="r" rotWithShape="0">
                <a:schemeClr val="bg1">
                  <a:alpha val="7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74B6A3D2-D02E-B520-F9B0-9CF64ED4B5CE}"/>
                </a:ext>
              </a:extLst>
            </p:cNvPr>
            <p:cNvSpPr/>
            <p:nvPr/>
          </p:nvSpPr>
          <p:spPr>
            <a:xfrm>
              <a:off x="3200180" y="4737100"/>
              <a:ext cx="965200" cy="14376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9CFBFAB9-FE25-315E-D1D8-A2E2B7BE14E5}"/>
              </a:ext>
            </a:extLst>
          </p:cNvPr>
          <p:cNvGrpSpPr/>
          <p:nvPr/>
        </p:nvGrpSpPr>
        <p:grpSpPr>
          <a:xfrm>
            <a:off x="4748908" y="3250168"/>
            <a:ext cx="965200" cy="2555240"/>
            <a:chOff x="4748908" y="3619500"/>
            <a:chExt cx="965200" cy="2555240"/>
          </a:xfrm>
        </p:grpSpPr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DBACEE1E-998C-1695-2B48-FB3186FB8F6D}"/>
                </a:ext>
              </a:extLst>
            </p:cNvPr>
            <p:cNvSpPr/>
            <p:nvPr/>
          </p:nvSpPr>
          <p:spPr>
            <a:xfrm>
              <a:off x="4748908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52400" dist="127000" dir="13500000" algn="r" rotWithShape="0">
                <a:schemeClr val="bg1">
                  <a:alpha val="7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사각형: 둥근 모서리 17">
              <a:extLst>
                <a:ext uri="{FF2B5EF4-FFF2-40B4-BE49-F238E27FC236}">
                  <a16:creationId xmlns:a16="http://schemas.microsoft.com/office/drawing/2014/main" id="{C5DCCC3D-5A82-0ED1-C5B2-FF61B5641970}"/>
                </a:ext>
              </a:extLst>
            </p:cNvPr>
            <p:cNvSpPr/>
            <p:nvPr/>
          </p:nvSpPr>
          <p:spPr>
            <a:xfrm>
              <a:off x="4748908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9FDF0BF-D75C-9758-3B66-14EF271963B7}"/>
              </a:ext>
            </a:extLst>
          </p:cNvPr>
          <p:cNvSpPr/>
          <p:nvPr/>
        </p:nvSpPr>
        <p:spPr>
          <a:xfrm>
            <a:off x="6471664" y="1865868"/>
            <a:ext cx="965200" cy="3939540"/>
          </a:xfrm>
          <a:prstGeom prst="roundRect">
            <a:avLst/>
          </a:prstGeom>
          <a:gradFill>
            <a:gsLst>
              <a:gs pos="4600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190500" dist="127000" dir="2700000" algn="tl" rotWithShape="0">
              <a:prstClr val="black">
                <a:alpha val="12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7E9706BE-C9FE-ECA7-07C5-CADB946898E6}"/>
              </a:ext>
            </a:extLst>
          </p:cNvPr>
          <p:cNvGrpSpPr/>
          <p:nvPr/>
        </p:nvGrpSpPr>
        <p:grpSpPr>
          <a:xfrm>
            <a:off x="8022146" y="3250168"/>
            <a:ext cx="965200" cy="2555240"/>
            <a:chOff x="8022146" y="3619500"/>
            <a:chExt cx="965200" cy="2555240"/>
          </a:xfrm>
        </p:grpSpPr>
        <p:sp>
          <p:nvSpPr>
            <p:cNvPr id="12" name="사각형: 둥근 모서리 11">
              <a:extLst>
                <a:ext uri="{FF2B5EF4-FFF2-40B4-BE49-F238E27FC236}">
                  <a16:creationId xmlns:a16="http://schemas.microsoft.com/office/drawing/2014/main" id="{5F4217DC-5176-9CFF-6501-9EBEB32867D9}"/>
                </a:ext>
              </a:extLst>
            </p:cNvPr>
            <p:cNvSpPr/>
            <p:nvPr/>
          </p:nvSpPr>
          <p:spPr>
            <a:xfrm>
              <a:off x="8022146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52400" dist="127000" dir="13500000" algn="r" rotWithShape="0">
                <a:schemeClr val="bg1">
                  <a:alpha val="7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98675BAF-1805-3F41-1D8B-E74DC3BAA309}"/>
                </a:ext>
              </a:extLst>
            </p:cNvPr>
            <p:cNvSpPr/>
            <p:nvPr/>
          </p:nvSpPr>
          <p:spPr>
            <a:xfrm>
              <a:off x="8022146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DB8FA6C-A7CD-1043-2FDC-42D5575C4454}"/>
              </a:ext>
            </a:extLst>
          </p:cNvPr>
          <p:cNvGrpSpPr/>
          <p:nvPr/>
        </p:nvGrpSpPr>
        <p:grpSpPr>
          <a:xfrm>
            <a:off x="9572628" y="3250168"/>
            <a:ext cx="965200" cy="2555240"/>
            <a:chOff x="9572628" y="3619500"/>
            <a:chExt cx="965200" cy="2555240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703D6BA9-A952-EC09-A274-205DD0FF9C6F}"/>
                </a:ext>
              </a:extLst>
            </p:cNvPr>
            <p:cNvSpPr/>
            <p:nvPr/>
          </p:nvSpPr>
          <p:spPr>
            <a:xfrm>
              <a:off x="9572628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52400" dist="127000" dir="13500000" algn="r" rotWithShape="0">
                <a:schemeClr val="bg1">
                  <a:alpha val="7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FBCDA10F-C387-EDEE-29F5-8C99976EE5EF}"/>
                </a:ext>
              </a:extLst>
            </p:cNvPr>
            <p:cNvSpPr/>
            <p:nvPr/>
          </p:nvSpPr>
          <p:spPr>
            <a:xfrm>
              <a:off x="9572628" y="3619500"/>
              <a:ext cx="965200" cy="2555240"/>
            </a:xfrm>
            <a:prstGeom prst="roundRect">
              <a:avLst/>
            </a:prstGeom>
            <a:solidFill>
              <a:srgbClr val="EBECF0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A8E6477F-B1F2-7CFE-9208-478714FFA8C0}"/>
              </a:ext>
            </a:extLst>
          </p:cNvPr>
          <p:cNvSpPr txBox="1"/>
          <p:nvPr/>
        </p:nvSpPr>
        <p:spPr>
          <a:xfrm>
            <a:off x="1559940" y="6033497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관광 다이어리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3302702-38E6-F1AA-07CE-10F24489B670}"/>
              </a:ext>
            </a:extLst>
          </p:cNvPr>
          <p:cNvSpPr txBox="1"/>
          <p:nvPr/>
        </p:nvSpPr>
        <p:spPr>
          <a:xfrm>
            <a:off x="3352401" y="6033497"/>
            <a:ext cx="6607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페이퍼로지 5 Medium" pitchFamily="2" charset="-127"/>
                <a:ea typeface="페이퍼로지 5 Medium" pitchFamily="2" charset="-127"/>
              </a:rPr>
              <a:t>지하수</a:t>
            </a:r>
            <a:endParaRPr lang="ko-KR" alt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21C895-1BA1-E6C0-93EE-CB78AD336018}"/>
              </a:ext>
            </a:extLst>
          </p:cNvPr>
          <p:cNvSpPr txBox="1"/>
          <p:nvPr/>
        </p:nvSpPr>
        <p:spPr>
          <a:xfrm>
            <a:off x="4616567" y="6022832"/>
            <a:ext cx="11769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페이퍼로지 5 Medium" pitchFamily="2" charset="-127"/>
                <a:ea typeface="페이퍼로지 5 Medium" pitchFamily="2" charset="-127"/>
              </a:rPr>
              <a:t>야간 생활시설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5AF594-6D8B-9E8B-BDCE-CDED2EEFC559}"/>
              </a:ext>
            </a:extLst>
          </p:cNvPr>
          <p:cNvSpPr txBox="1"/>
          <p:nvPr/>
        </p:nvSpPr>
        <p:spPr>
          <a:xfrm>
            <a:off x="6448109" y="6022832"/>
            <a:ext cx="10182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페이퍼로지 5 Medium" pitchFamily="2" charset="-127"/>
                <a:ea typeface="페이퍼로지 5 Medium" pitchFamily="2" charset="-127"/>
              </a:rPr>
              <a:t>제주 재활용</a:t>
            </a:r>
            <a:endParaRPr lang="ko-KR" alt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3660917-EE20-81CC-79C3-C05789817087}"/>
              </a:ext>
            </a:extLst>
          </p:cNvPr>
          <p:cNvSpPr txBox="1"/>
          <p:nvPr/>
        </p:nvSpPr>
        <p:spPr>
          <a:xfrm>
            <a:off x="7816897" y="6022832"/>
            <a:ext cx="13756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페이퍼로지 5 Medium" pitchFamily="2" charset="-127"/>
                <a:ea typeface="페이퍼로지 5 Medium" pitchFamily="2" charset="-127"/>
              </a:rPr>
              <a:t>버스 맞춤 시간표</a:t>
            </a:r>
            <a:endParaRPr lang="ko-KR" alt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95CF152-EA12-CAB6-1F1C-088AADA46389}"/>
              </a:ext>
            </a:extLst>
          </p:cNvPr>
          <p:cNvSpPr txBox="1"/>
          <p:nvPr/>
        </p:nvSpPr>
        <p:spPr>
          <a:xfrm>
            <a:off x="9452986" y="6027940"/>
            <a:ext cx="12170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>
                <a:latin typeface="페이퍼로지 5 Medium" pitchFamily="2" charset="-127"/>
                <a:ea typeface="페이퍼로지 5 Medium" pitchFamily="2" charset="-127"/>
              </a:rPr>
              <a:t>제주 주차 정보</a:t>
            </a:r>
            <a:endParaRPr lang="ko-KR" altLang="en-US" sz="1400" dirty="0">
              <a:latin typeface="페이퍼로지 5 Medium" pitchFamily="2" charset="-127"/>
              <a:ea typeface="페이퍼로지 5 Medium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91764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F35396-6F5A-A0A2-0CBC-BE8690E7C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901F6DB3-68B9-571C-ACB0-38F2F2311F8C}"/>
              </a:ext>
            </a:extLst>
          </p:cNvPr>
          <p:cNvSpPr txBox="1"/>
          <p:nvPr/>
        </p:nvSpPr>
        <p:spPr>
          <a:xfrm>
            <a:off x="455713" y="6441440"/>
            <a:ext cx="835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페이퍼로지 1 Thin" pitchFamily="2" charset="-127"/>
                <a:ea typeface="페이퍼로지 1 Thin" pitchFamily="2" charset="-127"/>
              </a:rPr>
              <a:t>Team 4</a:t>
            </a:r>
            <a:endParaRPr lang="ko-KR" altLang="en-US" sz="1400" dirty="0">
              <a:solidFill>
                <a:schemeClr val="bg1">
                  <a:lumMod val="85000"/>
                </a:schemeClr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011EAE-4723-F21B-058A-B22097E44569}"/>
              </a:ext>
            </a:extLst>
          </p:cNvPr>
          <p:cNvSpPr txBox="1"/>
          <p:nvPr/>
        </p:nvSpPr>
        <p:spPr>
          <a:xfrm>
            <a:off x="4876756" y="422787"/>
            <a:ext cx="238078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데이터 수집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CCDD40-3DDE-1D6E-FEBE-8A5AE28C6E98}"/>
              </a:ext>
            </a:extLst>
          </p:cNvPr>
          <p:cNvSpPr txBox="1"/>
          <p:nvPr/>
        </p:nvSpPr>
        <p:spPr>
          <a:xfrm>
            <a:off x="4114528" y="946731"/>
            <a:ext cx="3962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주제 선정과 동시에 필요 데이터를 수집함</a:t>
            </a:r>
            <a:r>
              <a:rPr lang="en-US" altLang="ko-KR" dirty="0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.</a:t>
            </a:r>
            <a:endParaRPr lang="ko-KR" altLang="en-US" dirty="0">
              <a:solidFill>
                <a:schemeClr val="accent3"/>
              </a:solidFill>
              <a:latin typeface="페이퍼로지 6 SemiBold" pitchFamily="2" charset="-127"/>
              <a:ea typeface="페이퍼로지 6 SemiBold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3C018F-267E-57D1-1A1C-0164E992463C}"/>
              </a:ext>
            </a:extLst>
          </p:cNvPr>
          <p:cNvSpPr txBox="1"/>
          <p:nvPr/>
        </p:nvSpPr>
        <p:spPr>
          <a:xfrm>
            <a:off x="455713" y="284287"/>
            <a:ext cx="15680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02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프로젝트 진행 상황</a:t>
            </a:r>
          </a:p>
        </p:txBody>
      </p:sp>
      <p:pic>
        <p:nvPicPr>
          <p:cNvPr id="4" name="그림 3" descr="스크린샷, 텍스트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71673C8-5ADC-72D3-B892-D726C8E117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086" y="2138355"/>
            <a:ext cx="5766768" cy="3403582"/>
          </a:xfrm>
          <a:prstGeom prst="rect">
            <a:avLst/>
          </a:prstGeom>
        </p:spPr>
      </p:pic>
      <p:grpSp>
        <p:nvGrpSpPr>
          <p:cNvPr id="10" name="그룹 9">
            <a:extLst>
              <a:ext uri="{FF2B5EF4-FFF2-40B4-BE49-F238E27FC236}">
                <a16:creationId xmlns:a16="http://schemas.microsoft.com/office/drawing/2014/main" id="{C8CE5B45-DF60-4F24-8394-C83C76A33F3E}"/>
              </a:ext>
            </a:extLst>
          </p:cNvPr>
          <p:cNvGrpSpPr/>
          <p:nvPr/>
        </p:nvGrpSpPr>
        <p:grpSpPr>
          <a:xfrm>
            <a:off x="708910" y="3222681"/>
            <a:ext cx="3156442" cy="1323439"/>
            <a:chOff x="7100184" y="3755827"/>
            <a:chExt cx="3156442" cy="132343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22A13A2-D82D-E97B-0C56-8236F7EB0FCC}"/>
                </a:ext>
              </a:extLst>
            </p:cNvPr>
            <p:cNvSpPr txBox="1"/>
            <p:nvPr/>
          </p:nvSpPr>
          <p:spPr>
            <a:xfrm>
              <a:off x="7100184" y="3755827"/>
              <a:ext cx="3156442" cy="1323439"/>
            </a:xfrm>
            <a:prstGeom prst="rect">
              <a:avLst/>
            </a:prstGeom>
            <a:noFill/>
            <a:effectLst>
              <a:outerShdw blurRad="76200" dist="76200" dir="13500000" algn="br" rotWithShape="0">
                <a:schemeClr val="bg1">
                  <a:alpha val="49000"/>
                </a:scheme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altLang="ko-KR" sz="8000" dirty="0">
                  <a:solidFill>
                    <a:srgbClr val="EBECF0"/>
                  </a:solidFill>
                  <a:latin typeface="페이퍼로지 8 ExtraBold" pitchFamily="2" charset="-127"/>
                  <a:ea typeface="페이퍼로지 8 ExtraBold" pitchFamily="2" charset="-127"/>
                </a:rPr>
                <a:t>DATA</a:t>
              </a:r>
              <a:endParaRPr lang="ko-KR" altLang="en-US" sz="8000" dirty="0">
                <a:solidFill>
                  <a:srgbClr val="EBECF0"/>
                </a:solidFill>
                <a:latin typeface="페이퍼로지 8 ExtraBold" pitchFamily="2" charset="-127"/>
                <a:ea typeface="페이퍼로지 8 ExtraBold" pitchFamily="2" charset="-127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C063CC9-195F-1575-8A00-31854623332A}"/>
                </a:ext>
              </a:extLst>
            </p:cNvPr>
            <p:cNvSpPr txBox="1"/>
            <p:nvPr/>
          </p:nvSpPr>
          <p:spPr>
            <a:xfrm>
              <a:off x="7100184" y="3755827"/>
              <a:ext cx="3156442" cy="1323439"/>
            </a:xfrm>
            <a:prstGeom prst="rect">
              <a:avLst/>
            </a:prstGeom>
            <a:noFill/>
            <a:effectLst>
              <a:outerShdw blurRad="190500" dist="177800" dir="2700000" algn="tl" rotWithShape="0">
                <a:prstClr val="black">
                  <a:alpha val="35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en-US" altLang="ko-KR" sz="8000" dirty="0">
                  <a:solidFill>
                    <a:srgbClr val="EBECF0"/>
                  </a:solidFill>
                  <a:latin typeface="페이퍼로지 8 ExtraBold" pitchFamily="2" charset="-127"/>
                  <a:ea typeface="페이퍼로지 8 ExtraBold" pitchFamily="2" charset="-127"/>
                </a:rPr>
                <a:t>DATA</a:t>
              </a:r>
              <a:endParaRPr lang="ko-KR" altLang="en-US" sz="8000" dirty="0">
                <a:solidFill>
                  <a:srgbClr val="EBECF0"/>
                </a:solidFill>
                <a:latin typeface="페이퍼로지 8 ExtraBold" pitchFamily="2" charset="-127"/>
                <a:ea typeface="페이퍼로지 8 ExtraBold" pitchFamily="2" charset="-127"/>
              </a:endParaRP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7B5E49EB-85AB-95E1-99C1-2CE7A09D08CE}"/>
              </a:ext>
            </a:extLst>
          </p:cNvPr>
          <p:cNvGrpSpPr/>
          <p:nvPr/>
        </p:nvGrpSpPr>
        <p:grpSpPr>
          <a:xfrm>
            <a:off x="4551605" y="3595948"/>
            <a:ext cx="1269162" cy="628650"/>
            <a:chOff x="4551605" y="3976948"/>
            <a:chExt cx="1269162" cy="628650"/>
          </a:xfrm>
        </p:grpSpPr>
        <p:sp>
          <p:nvSpPr>
            <p:cNvPr id="11" name="화살표: 오른쪽 10">
              <a:extLst>
                <a:ext uri="{FF2B5EF4-FFF2-40B4-BE49-F238E27FC236}">
                  <a16:creationId xmlns:a16="http://schemas.microsoft.com/office/drawing/2014/main" id="{C06F99EB-ED09-272E-A8A5-9BF0FA950465}"/>
                </a:ext>
              </a:extLst>
            </p:cNvPr>
            <p:cNvSpPr/>
            <p:nvPr/>
          </p:nvSpPr>
          <p:spPr>
            <a:xfrm>
              <a:off x="4551606" y="3976948"/>
              <a:ext cx="1269161" cy="628650"/>
            </a:xfrm>
            <a:prstGeom prst="rightArrow">
              <a:avLst/>
            </a:prstGeom>
            <a:solidFill>
              <a:srgbClr val="EBECF0"/>
            </a:solidFill>
            <a:ln>
              <a:noFill/>
            </a:ln>
            <a:effectLst>
              <a:outerShdw blurRad="152400" dist="127000" dir="13500000" algn="r" rotWithShape="0">
                <a:schemeClr val="bg1">
                  <a:alpha val="78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화살표: 오른쪽 11">
              <a:extLst>
                <a:ext uri="{FF2B5EF4-FFF2-40B4-BE49-F238E27FC236}">
                  <a16:creationId xmlns:a16="http://schemas.microsoft.com/office/drawing/2014/main" id="{88690076-3510-973B-EC34-B9EC456FD8AC}"/>
                </a:ext>
              </a:extLst>
            </p:cNvPr>
            <p:cNvSpPr/>
            <p:nvPr/>
          </p:nvSpPr>
          <p:spPr>
            <a:xfrm>
              <a:off x="4551605" y="3976948"/>
              <a:ext cx="1269161" cy="628650"/>
            </a:xfrm>
            <a:prstGeom prst="rightArrow">
              <a:avLst/>
            </a:prstGeom>
            <a:solidFill>
              <a:srgbClr val="EBECF0"/>
            </a:solidFill>
            <a:ln>
              <a:noFill/>
            </a:ln>
            <a:effectLst>
              <a:outerShdw blurRad="190500" dist="127000" dir="2700000" algn="tl" rotWithShape="0">
                <a:prstClr val="black">
                  <a:alpha val="12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124383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4B3D53-1D80-F615-D810-1A3B3873D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771DFAEC-F9A2-4CCF-A3AB-81C2AC426E9B}"/>
              </a:ext>
            </a:extLst>
          </p:cNvPr>
          <p:cNvGrpSpPr/>
          <p:nvPr/>
        </p:nvGrpSpPr>
        <p:grpSpPr>
          <a:xfrm>
            <a:off x="3190568" y="2467728"/>
            <a:ext cx="5810864" cy="961272"/>
            <a:chOff x="4141671" y="2025443"/>
            <a:chExt cx="5810864" cy="961272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BF6D4A4E-9530-2EE7-9928-1C0501AD82C6}"/>
                </a:ext>
              </a:extLst>
            </p:cNvPr>
            <p:cNvSpPr/>
            <p:nvPr/>
          </p:nvSpPr>
          <p:spPr>
            <a:xfrm>
              <a:off x="4141671" y="2025443"/>
              <a:ext cx="5810864" cy="953729"/>
            </a:xfrm>
            <a:prstGeom prst="roundRect">
              <a:avLst>
                <a:gd name="adj" fmla="val 50000"/>
              </a:avLst>
            </a:prstGeom>
            <a:solidFill>
              <a:srgbClr val="EBECF0"/>
            </a:soli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993D3732-7524-B826-36E8-7E671124962B}"/>
                </a:ext>
              </a:extLst>
            </p:cNvPr>
            <p:cNvSpPr/>
            <p:nvPr/>
          </p:nvSpPr>
          <p:spPr>
            <a:xfrm>
              <a:off x="4141671" y="2032986"/>
              <a:ext cx="5810864" cy="953729"/>
            </a:xfrm>
            <a:prstGeom prst="roundRect">
              <a:avLst>
                <a:gd name="adj" fmla="val 50000"/>
              </a:avLst>
            </a:prstGeom>
            <a:gradFill>
              <a:gsLst>
                <a:gs pos="73000">
                  <a:schemeClr val="bg1">
                    <a:alpha val="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accent3">
                      <a:lumMod val="7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제주 재활용 폐기물량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83ABEF4-55D1-BC4C-A366-90E42D867635}"/>
              </a:ext>
            </a:extLst>
          </p:cNvPr>
          <p:cNvGrpSpPr/>
          <p:nvPr/>
        </p:nvGrpSpPr>
        <p:grpSpPr>
          <a:xfrm>
            <a:off x="3190568" y="3727075"/>
            <a:ext cx="5810864" cy="961272"/>
            <a:chOff x="4141671" y="2025443"/>
            <a:chExt cx="5810864" cy="961272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8F78020C-A25C-65C1-3516-7CEBFC6B1935}"/>
                </a:ext>
              </a:extLst>
            </p:cNvPr>
            <p:cNvSpPr/>
            <p:nvPr/>
          </p:nvSpPr>
          <p:spPr>
            <a:xfrm>
              <a:off x="4141671" y="2025443"/>
              <a:ext cx="5810864" cy="953729"/>
            </a:xfrm>
            <a:prstGeom prst="roundRect">
              <a:avLst>
                <a:gd name="adj" fmla="val 50000"/>
              </a:avLst>
            </a:prstGeom>
            <a:solidFill>
              <a:srgbClr val="EBECF0"/>
            </a:soli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4AD346B6-08FE-FDFD-A2DE-D53253ECD538}"/>
                </a:ext>
              </a:extLst>
            </p:cNvPr>
            <p:cNvSpPr/>
            <p:nvPr/>
          </p:nvSpPr>
          <p:spPr>
            <a:xfrm>
              <a:off x="4141671" y="2032986"/>
              <a:ext cx="5810864" cy="953729"/>
            </a:xfrm>
            <a:prstGeom prst="roundRect">
              <a:avLst>
                <a:gd name="adj" fmla="val 50000"/>
              </a:avLst>
            </a:prstGeom>
            <a:gradFill>
              <a:gsLst>
                <a:gs pos="73000">
                  <a:schemeClr val="bg1">
                    <a:alpha val="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accent3">
                      <a:lumMod val="7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전국 평균 재활용 폐기물량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D7A9C177-B830-10F2-29BD-CBBCF202C9BF}"/>
              </a:ext>
            </a:extLst>
          </p:cNvPr>
          <p:cNvGrpSpPr/>
          <p:nvPr/>
        </p:nvGrpSpPr>
        <p:grpSpPr>
          <a:xfrm>
            <a:off x="3190568" y="4993965"/>
            <a:ext cx="5810864" cy="961272"/>
            <a:chOff x="4141671" y="2025443"/>
            <a:chExt cx="5810864" cy="961272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4730A4A1-A259-5386-C879-9993D0F43FEB}"/>
                </a:ext>
              </a:extLst>
            </p:cNvPr>
            <p:cNvSpPr/>
            <p:nvPr/>
          </p:nvSpPr>
          <p:spPr>
            <a:xfrm>
              <a:off x="4141671" y="2025443"/>
              <a:ext cx="5810864" cy="953729"/>
            </a:xfrm>
            <a:prstGeom prst="roundRect">
              <a:avLst>
                <a:gd name="adj" fmla="val 50000"/>
              </a:avLst>
            </a:prstGeom>
            <a:solidFill>
              <a:srgbClr val="EBECF0"/>
            </a:soli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EA06915B-E94C-9234-02D6-B1A8B47E85F0}"/>
                </a:ext>
              </a:extLst>
            </p:cNvPr>
            <p:cNvSpPr/>
            <p:nvPr/>
          </p:nvSpPr>
          <p:spPr>
            <a:xfrm>
              <a:off x="4141671" y="2032986"/>
              <a:ext cx="5810864" cy="953729"/>
            </a:xfrm>
            <a:prstGeom prst="roundRect">
              <a:avLst>
                <a:gd name="adj" fmla="val 50000"/>
              </a:avLst>
            </a:prstGeom>
            <a:gradFill>
              <a:gsLst>
                <a:gs pos="73000">
                  <a:schemeClr val="bg1">
                    <a:alpha val="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accent3">
                      <a:lumMod val="7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제주 및 전국 재활용 실적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9798D04-04BE-8D8D-BF24-BD4E2074855C}"/>
              </a:ext>
            </a:extLst>
          </p:cNvPr>
          <p:cNvSpPr txBox="1"/>
          <p:nvPr/>
        </p:nvSpPr>
        <p:spPr>
          <a:xfrm>
            <a:off x="455713" y="6441440"/>
            <a:ext cx="835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페이퍼로지 1 Thin" pitchFamily="2" charset="-127"/>
                <a:ea typeface="페이퍼로지 1 Thin" pitchFamily="2" charset="-127"/>
              </a:rPr>
              <a:t>Team 4</a:t>
            </a:r>
            <a:endParaRPr lang="ko-KR" altLang="en-US" sz="1400" dirty="0">
              <a:solidFill>
                <a:schemeClr val="bg1">
                  <a:lumMod val="85000"/>
                </a:schemeClr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73B5CFD5-2C0C-8E7C-D481-33CA344FA399}"/>
              </a:ext>
            </a:extLst>
          </p:cNvPr>
          <p:cNvSpPr/>
          <p:nvPr/>
        </p:nvSpPr>
        <p:spPr>
          <a:xfrm>
            <a:off x="3373120" y="2548506"/>
            <a:ext cx="762000" cy="762000"/>
          </a:xfrm>
          <a:prstGeom prst="ellipse">
            <a:avLst/>
          </a:prstGeom>
          <a:gradFill>
            <a:gsLst>
              <a:gs pos="200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페이퍼로지 7 Bold" pitchFamily="2" charset="-127"/>
                <a:ea typeface="페이퍼로지 7 Bold" pitchFamily="2" charset="-127"/>
              </a:rPr>
              <a:t>1</a:t>
            </a:r>
            <a:endParaRPr lang="ko-KR" altLang="en-US" sz="28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37B93AEA-4E12-90DF-1337-F4FDFAD72EFB}"/>
              </a:ext>
            </a:extLst>
          </p:cNvPr>
          <p:cNvSpPr/>
          <p:nvPr/>
        </p:nvSpPr>
        <p:spPr>
          <a:xfrm>
            <a:off x="3373120" y="3830482"/>
            <a:ext cx="762000" cy="762000"/>
          </a:xfrm>
          <a:prstGeom prst="ellipse">
            <a:avLst/>
          </a:prstGeom>
          <a:gradFill>
            <a:gsLst>
              <a:gs pos="200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페이퍼로지 7 Bold" pitchFamily="2" charset="-127"/>
                <a:ea typeface="페이퍼로지 7 Bold" pitchFamily="2" charset="-127"/>
              </a:rPr>
              <a:t>2</a:t>
            </a:r>
            <a:endParaRPr lang="ko-KR" altLang="en-US" sz="28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FD000B05-8EE3-3E6F-B16B-34125EFEDC0B}"/>
              </a:ext>
            </a:extLst>
          </p:cNvPr>
          <p:cNvSpPr/>
          <p:nvPr/>
        </p:nvSpPr>
        <p:spPr>
          <a:xfrm>
            <a:off x="3373120" y="5097372"/>
            <a:ext cx="762000" cy="762000"/>
          </a:xfrm>
          <a:prstGeom prst="ellipse">
            <a:avLst/>
          </a:prstGeom>
          <a:gradFill>
            <a:gsLst>
              <a:gs pos="200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페이퍼로지 7 Bold" pitchFamily="2" charset="-127"/>
                <a:ea typeface="페이퍼로지 7 Bold" pitchFamily="2" charset="-127"/>
              </a:rPr>
              <a:t>3</a:t>
            </a:r>
            <a:endParaRPr lang="ko-KR" altLang="en-US" sz="28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D7881F-00E1-C628-7A05-E054B5DFE3E5}"/>
              </a:ext>
            </a:extLst>
          </p:cNvPr>
          <p:cNvSpPr txBox="1"/>
          <p:nvPr/>
        </p:nvSpPr>
        <p:spPr>
          <a:xfrm>
            <a:off x="4876756" y="422787"/>
            <a:ext cx="24384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데이터 </a:t>
            </a:r>
            <a:r>
              <a:rPr lang="ko-KR" altLang="en-US" sz="32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전처리</a:t>
            </a:r>
            <a:endParaRPr lang="ko-KR" altLang="en-US" sz="3200" dirty="0">
              <a:solidFill>
                <a:schemeClr val="accent3">
                  <a:lumMod val="60000"/>
                  <a:lumOff val="40000"/>
                </a:schemeClr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AAAC63A-1A73-F880-479B-293CBF008C5D}"/>
              </a:ext>
            </a:extLst>
          </p:cNvPr>
          <p:cNvSpPr txBox="1"/>
          <p:nvPr/>
        </p:nvSpPr>
        <p:spPr>
          <a:xfrm>
            <a:off x="3406802" y="1080797"/>
            <a:ext cx="5378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3"/>
                </a:solidFill>
                <a:latin typeface="페이퍼로지 6 SemiBold" pitchFamily="2" charset="-127"/>
                <a:ea typeface="페이퍼로지 6 SemiBold" pitchFamily="2" charset="-127"/>
              </a:rPr>
              <a:t>수집된 데이터에서 필요 데이터를 선별하고 전처리를 진행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5EA4FBE-1D6A-D210-0AD2-7C3218F03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52374" y="1859279"/>
            <a:ext cx="4330216" cy="405024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030CDF3-376F-83CF-CBFA-26030CE65343}"/>
              </a:ext>
            </a:extLst>
          </p:cNvPr>
          <p:cNvSpPr txBox="1"/>
          <p:nvPr/>
        </p:nvSpPr>
        <p:spPr>
          <a:xfrm>
            <a:off x="455713" y="284287"/>
            <a:ext cx="15680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02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프로젝트 진행 상황</a:t>
            </a:r>
          </a:p>
        </p:txBody>
      </p:sp>
    </p:spTree>
    <p:extLst>
      <p:ext uri="{BB962C8B-B14F-4D97-AF65-F5344CB8AC3E}">
        <p14:creationId xmlns:p14="http://schemas.microsoft.com/office/powerpoint/2010/main" val="15466379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66E3C-3E6E-38BB-B8A4-A183EEB52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E63221E6-206A-6997-407C-D2CAA3DE1752}"/>
              </a:ext>
            </a:extLst>
          </p:cNvPr>
          <p:cNvGrpSpPr/>
          <p:nvPr/>
        </p:nvGrpSpPr>
        <p:grpSpPr>
          <a:xfrm>
            <a:off x="493088" y="2467728"/>
            <a:ext cx="5810864" cy="961272"/>
            <a:chOff x="4141671" y="2025443"/>
            <a:chExt cx="5810864" cy="961272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A23A8FCD-1273-9CB9-FD49-22C455EA3A03}"/>
                </a:ext>
              </a:extLst>
            </p:cNvPr>
            <p:cNvSpPr/>
            <p:nvPr/>
          </p:nvSpPr>
          <p:spPr>
            <a:xfrm>
              <a:off x="4141671" y="2025443"/>
              <a:ext cx="5810864" cy="953729"/>
            </a:xfrm>
            <a:prstGeom prst="roundRect">
              <a:avLst>
                <a:gd name="adj" fmla="val 50000"/>
              </a:avLst>
            </a:prstGeom>
            <a:solidFill>
              <a:srgbClr val="EBECF0"/>
            </a:soli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BC380FFD-E770-AC0B-DD48-D8C5EB7ECF89}"/>
                </a:ext>
              </a:extLst>
            </p:cNvPr>
            <p:cNvSpPr/>
            <p:nvPr/>
          </p:nvSpPr>
          <p:spPr>
            <a:xfrm>
              <a:off x="4141671" y="2032986"/>
              <a:ext cx="5810864" cy="953729"/>
            </a:xfrm>
            <a:prstGeom prst="roundRect">
              <a:avLst>
                <a:gd name="adj" fmla="val 50000"/>
              </a:avLst>
            </a:prstGeom>
            <a:gradFill>
              <a:gsLst>
                <a:gs pos="73000">
                  <a:schemeClr val="bg1">
                    <a:alpha val="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accent3">
                      <a:lumMod val="7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제주 재활용 폐기물량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F0D8788-10D2-3A1E-F657-99C4FF470D4D}"/>
              </a:ext>
            </a:extLst>
          </p:cNvPr>
          <p:cNvGrpSpPr/>
          <p:nvPr/>
        </p:nvGrpSpPr>
        <p:grpSpPr>
          <a:xfrm>
            <a:off x="493088" y="3727075"/>
            <a:ext cx="5810864" cy="961272"/>
            <a:chOff x="4141671" y="2025443"/>
            <a:chExt cx="5810864" cy="961272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B1E38AB3-29CD-64D7-E7EB-077F090C344C}"/>
                </a:ext>
              </a:extLst>
            </p:cNvPr>
            <p:cNvSpPr/>
            <p:nvPr/>
          </p:nvSpPr>
          <p:spPr>
            <a:xfrm>
              <a:off x="4141671" y="2025443"/>
              <a:ext cx="5810864" cy="953729"/>
            </a:xfrm>
            <a:prstGeom prst="roundRect">
              <a:avLst>
                <a:gd name="adj" fmla="val 50000"/>
              </a:avLst>
            </a:prstGeom>
            <a:solidFill>
              <a:srgbClr val="EBECF0"/>
            </a:soli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F218B75F-5C7B-E375-06C9-E1DB8A5E387F}"/>
                </a:ext>
              </a:extLst>
            </p:cNvPr>
            <p:cNvSpPr/>
            <p:nvPr/>
          </p:nvSpPr>
          <p:spPr>
            <a:xfrm>
              <a:off x="4141671" y="2032986"/>
              <a:ext cx="5810864" cy="953729"/>
            </a:xfrm>
            <a:prstGeom prst="roundRect">
              <a:avLst>
                <a:gd name="adj" fmla="val 50000"/>
              </a:avLst>
            </a:prstGeom>
            <a:gradFill>
              <a:gsLst>
                <a:gs pos="73000">
                  <a:schemeClr val="bg1">
                    <a:alpha val="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accent3">
                      <a:lumMod val="7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전국 평균 재활용 폐기물량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68CEFFA0-2741-F60A-F97C-54F9D6C72817}"/>
              </a:ext>
            </a:extLst>
          </p:cNvPr>
          <p:cNvGrpSpPr/>
          <p:nvPr/>
        </p:nvGrpSpPr>
        <p:grpSpPr>
          <a:xfrm>
            <a:off x="493088" y="4993965"/>
            <a:ext cx="5810864" cy="961272"/>
            <a:chOff x="4141671" y="2025443"/>
            <a:chExt cx="5810864" cy="961272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C1284C2B-88B8-F356-F932-B98D78BD3E66}"/>
                </a:ext>
              </a:extLst>
            </p:cNvPr>
            <p:cNvSpPr/>
            <p:nvPr/>
          </p:nvSpPr>
          <p:spPr>
            <a:xfrm>
              <a:off x="4141671" y="2025443"/>
              <a:ext cx="5810864" cy="953729"/>
            </a:xfrm>
            <a:prstGeom prst="roundRect">
              <a:avLst>
                <a:gd name="adj" fmla="val 50000"/>
              </a:avLst>
            </a:prstGeom>
            <a:solidFill>
              <a:srgbClr val="EBECF0"/>
            </a:soli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0C8B79E8-7755-AA16-5CB9-78B8E6099471}"/>
                </a:ext>
              </a:extLst>
            </p:cNvPr>
            <p:cNvSpPr/>
            <p:nvPr/>
          </p:nvSpPr>
          <p:spPr>
            <a:xfrm>
              <a:off x="4141671" y="2032986"/>
              <a:ext cx="5810864" cy="953729"/>
            </a:xfrm>
            <a:prstGeom prst="roundRect">
              <a:avLst>
                <a:gd name="adj" fmla="val 50000"/>
              </a:avLst>
            </a:prstGeom>
            <a:gradFill>
              <a:gsLst>
                <a:gs pos="73000">
                  <a:schemeClr val="bg1">
                    <a:alpha val="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accent3">
                      <a:lumMod val="7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제주 및 전국 재활용 실적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347B3C9B-452A-ECF8-1A30-CC3602464423}"/>
              </a:ext>
            </a:extLst>
          </p:cNvPr>
          <p:cNvSpPr txBox="1"/>
          <p:nvPr/>
        </p:nvSpPr>
        <p:spPr>
          <a:xfrm>
            <a:off x="455713" y="6441440"/>
            <a:ext cx="835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페이퍼로지 1 Thin" pitchFamily="2" charset="-127"/>
                <a:ea typeface="페이퍼로지 1 Thin" pitchFamily="2" charset="-127"/>
              </a:rPr>
              <a:t>Team 4</a:t>
            </a:r>
            <a:endParaRPr lang="ko-KR" altLang="en-US" sz="1400" dirty="0">
              <a:solidFill>
                <a:schemeClr val="bg1">
                  <a:lumMod val="85000"/>
                </a:schemeClr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37728DB9-819F-5D2B-E60B-8B231AEAF7BA}"/>
              </a:ext>
            </a:extLst>
          </p:cNvPr>
          <p:cNvSpPr/>
          <p:nvPr/>
        </p:nvSpPr>
        <p:spPr>
          <a:xfrm>
            <a:off x="675640" y="2548506"/>
            <a:ext cx="762000" cy="762000"/>
          </a:xfrm>
          <a:prstGeom prst="ellipse">
            <a:avLst/>
          </a:prstGeom>
          <a:gradFill>
            <a:gsLst>
              <a:gs pos="200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페이퍼로지 7 Bold" pitchFamily="2" charset="-127"/>
                <a:ea typeface="페이퍼로지 7 Bold" pitchFamily="2" charset="-127"/>
              </a:rPr>
              <a:t>1</a:t>
            </a:r>
            <a:endParaRPr lang="ko-KR" altLang="en-US" sz="28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9C03AEBE-A1EB-97FE-C707-3FACC02F35BE}"/>
              </a:ext>
            </a:extLst>
          </p:cNvPr>
          <p:cNvSpPr/>
          <p:nvPr/>
        </p:nvSpPr>
        <p:spPr>
          <a:xfrm>
            <a:off x="675640" y="3830482"/>
            <a:ext cx="762000" cy="762000"/>
          </a:xfrm>
          <a:prstGeom prst="ellipse">
            <a:avLst/>
          </a:prstGeom>
          <a:gradFill>
            <a:gsLst>
              <a:gs pos="200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페이퍼로지 7 Bold" pitchFamily="2" charset="-127"/>
                <a:ea typeface="페이퍼로지 7 Bold" pitchFamily="2" charset="-127"/>
              </a:rPr>
              <a:t>2</a:t>
            </a:r>
            <a:endParaRPr lang="ko-KR" altLang="en-US" sz="28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8F73ED75-EB7C-76EB-E449-96C3423FD32E}"/>
              </a:ext>
            </a:extLst>
          </p:cNvPr>
          <p:cNvSpPr/>
          <p:nvPr/>
        </p:nvSpPr>
        <p:spPr>
          <a:xfrm>
            <a:off x="675640" y="5097372"/>
            <a:ext cx="762000" cy="762000"/>
          </a:xfrm>
          <a:prstGeom prst="ellipse">
            <a:avLst/>
          </a:prstGeom>
          <a:gradFill>
            <a:gsLst>
              <a:gs pos="200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페이퍼로지 7 Bold" pitchFamily="2" charset="-127"/>
                <a:ea typeface="페이퍼로지 7 Bold" pitchFamily="2" charset="-127"/>
              </a:rPr>
              <a:t>3</a:t>
            </a:r>
            <a:endParaRPr lang="ko-KR" altLang="en-US" sz="28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767A3C0-C727-13A8-57EE-D1472A7402DC}"/>
              </a:ext>
            </a:extLst>
          </p:cNvPr>
          <p:cNvSpPr txBox="1"/>
          <p:nvPr/>
        </p:nvSpPr>
        <p:spPr>
          <a:xfrm>
            <a:off x="2179276" y="422787"/>
            <a:ext cx="24384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데이터 </a:t>
            </a:r>
            <a:r>
              <a:rPr lang="ko-KR" altLang="en-US" sz="32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전처리</a:t>
            </a:r>
            <a:endParaRPr lang="ko-KR" altLang="en-US" sz="3200" dirty="0">
              <a:solidFill>
                <a:schemeClr val="accent3">
                  <a:lumMod val="60000"/>
                  <a:lumOff val="40000"/>
                </a:schemeClr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0AFD9CA-E9F6-14F9-99DA-5CCB9C77C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8134" y="1859279"/>
            <a:ext cx="4330216" cy="40502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CDB2D3-1D6A-B22F-309D-8EC32009049C}"/>
              </a:ext>
            </a:extLst>
          </p:cNvPr>
          <p:cNvSpPr txBox="1"/>
          <p:nvPr/>
        </p:nvSpPr>
        <p:spPr>
          <a:xfrm>
            <a:off x="455713" y="284287"/>
            <a:ext cx="15680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02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프로젝트 진행 상황</a:t>
            </a:r>
          </a:p>
        </p:txBody>
      </p:sp>
    </p:spTree>
    <p:extLst>
      <p:ext uri="{BB962C8B-B14F-4D97-AF65-F5344CB8AC3E}">
        <p14:creationId xmlns:p14="http://schemas.microsoft.com/office/powerpoint/2010/main" val="17112672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C9DDF4-9118-8AE8-E29C-F7A6F62A3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그룹 42">
            <a:extLst>
              <a:ext uri="{FF2B5EF4-FFF2-40B4-BE49-F238E27FC236}">
                <a16:creationId xmlns:a16="http://schemas.microsoft.com/office/drawing/2014/main" id="{C5AD4D1A-DDD6-DF20-59E1-1E55691F9E2C}"/>
              </a:ext>
            </a:extLst>
          </p:cNvPr>
          <p:cNvGrpSpPr/>
          <p:nvPr/>
        </p:nvGrpSpPr>
        <p:grpSpPr>
          <a:xfrm>
            <a:off x="493088" y="2467728"/>
            <a:ext cx="5810864" cy="961272"/>
            <a:chOff x="4141671" y="2025443"/>
            <a:chExt cx="5810864" cy="961272"/>
          </a:xfrm>
        </p:grpSpPr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27A2E25A-B8B8-972F-2A50-C2A1C1796778}"/>
                </a:ext>
              </a:extLst>
            </p:cNvPr>
            <p:cNvSpPr/>
            <p:nvPr/>
          </p:nvSpPr>
          <p:spPr>
            <a:xfrm>
              <a:off x="4141671" y="2025443"/>
              <a:ext cx="5810864" cy="953729"/>
            </a:xfrm>
            <a:prstGeom prst="roundRect">
              <a:avLst>
                <a:gd name="adj" fmla="val 50000"/>
              </a:avLst>
            </a:prstGeom>
            <a:solidFill>
              <a:srgbClr val="EBECF0"/>
            </a:soli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사각형: 둥근 모서리 39">
              <a:extLst>
                <a:ext uri="{FF2B5EF4-FFF2-40B4-BE49-F238E27FC236}">
                  <a16:creationId xmlns:a16="http://schemas.microsoft.com/office/drawing/2014/main" id="{A4BCC070-AF44-C4AA-14FE-8D53FFBAD7A6}"/>
                </a:ext>
              </a:extLst>
            </p:cNvPr>
            <p:cNvSpPr/>
            <p:nvPr/>
          </p:nvSpPr>
          <p:spPr>
            <a:xfrm>
              <a:off x="4141671" y="2032986"/>
              <a:ext cx="5810864" cy="953729"/>
            </a:xfrm>
            <a:prstGeom prst="roundRect">
              <a:avLst>
                <a:gd name="adj" fmla="val 50000"/>
              </a:avLst>
            </a:prstGeom>
            <a:gradFill>
              <a:gsLst>
                <a:gs pos="73000">
                  <a:schemeClr val="bg1">
                    <a:alpha val="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accent3">
                      <a:lumMod val="7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제주 재활용 폐기물량</a:t>
              </a: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B08E1BC-1016-C61F-B823-D130B6C1C52B}"/>
              </a:ext>
            </a:extLst>
          </p:cNvPr>
          <p:cNvGrpSpPr/>
          <p:nvPr/>
        </p:nvGrpSpPr>
        <p:grpSpPr>
          <a:xfrm>
            <a:off x="493088" y="3727075"/>
            <a:ext cx="5810864" cy="961272"/>
            <a:chOff x="4141671" y="2025443"/>
            <a:chExt cx="5810864" cy="961272"/>
          </a:xfrm>
        </p:grpSpPr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86CF1AC3-B4EA-C167-4D9C-56DD016C9ABA}"/>
                </a:ext>
              </a:extLst>
            </p:cNvPr>
            <p:cNvSpPr/>
            <p:nvPr/>
          </p:nvSpPr>
          <p:spPr>
            <a:xfrm>
              <a:off x="4141671" y="2025443"/>
              <a:ext cx="5810864" cy="953729"/>
            </a:xfrm>
            <a:prstGeom prst="roundRect">
              <a:avLst>
                <a:gd name="adj" fmla="val 50000"/>
              </a:avLst>
            </a:prstGeom>
            <a:solidFill>
              <a:srgbClr val="EBECF0"/>
            </a:soli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사각형: 둥근 모서리 51">
              <a:extLst>
                <a:ext uri="{FF2B5EF4-FFF2-40B4-BE49-F238E27FC236}">
                  <a16:creationId xmlns:a16="http://schemas.microsoft.com/office/drawing/2014/main" id="{065CD871-6C3F-09AD-E592-8B1976B0A588}"/>
                </a:ext>
              </a:extLst>
            </p:cNvPr>
            <p:cNvSpPr/>
            <p:nvPr/>
          </p:nvSpPr>
          <p:spPr>
            <a:xfrm>
              <a:off x="4141671" y="2032986"/>
              <a:ext cx="5810864" cy="953729"/>
            </a:xfrm>
            <a:prstGeom prst="roundRect">
              <a:avLst>
                <a:gd name="adj" fmla="val 50000"/>
              </a:avLst>
            </a:prstGeom>
            <a:gradFill>
              <a:gsLst>
                <a:gs pos="73000">
                  <a:schemeClr val="bg1">
                    <a:alpha val="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accent3">
                      <a:lumMod val="7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전국 평균 재활용 폐기물량</a:t>
              </a: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D93706AA-3856-60E1-5787-A4C75236D29C}"/>
              </a:ext>
            </a:extLst>
          </p:cNvPr>
          <p:cNvGrpSpPr/>
          <p:nvPr/>
        </p:nvGrpSpPr>
        <p:grpSpPr>
          <a:xfrm>
            <a:off x="493088" y="4993965"/>
            <a:ext cx="5810864" cy="961272"/>
            <a:chOff x="4141671" y="2025443"/>
            <a:chExt cx="5810864" cy="961272"/>
          </a:xfrm>
        </p:grpSpPr>
        <p:sp>
          <p:nvSpPr>
            <p:cNvPr id="54" name="사각형: 둥근 모서리 53">
              <a:extLst>
                <a:ext uri="{FF2B5EF4-FFF2-40B4-BE49-F238E27FC236}">
                  <a16:creationId xmlns:a16="http://schemas.microsoft.com/office/drawing/2014/main" id="{F2933911-49C0-EA32-C503-DBD0251877E2}"/>
                </a:ext>
              </a:extLst>
            </p:cNvPr>
            <p:cNvSpPr/>
            <p:nvPr/>
          </p:nvSpPr>
          <p:spPr>
            <a:xfrm>
              <a:off x="4141671" y="2025443"/>
              <a:ext cx="5810864" cy="953729"/>
            </a:xfrm>
            <a:prstGeom prst="roundRect">
              <a:avLst>
                <a:gd name="adj" fmla="val 50000"/>
              </a:avLst>
            </a:prstGeom>
            <a:solidFill>
              <a:srgbClr val="EBECF0"/>
            </a:soli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5" name="사각형: 둥근 모서리 54">
              <a:extLst>
                <a:ext uri="{FF2B5EF4-FFF2-40B4-BE49-F238E27FC236}">
                  <a16:creationId xmlns:a16="http://schemas.microsoft.com/office/drawing/2014/main" id="{A2235695-CC0C-7643-3B7F-52F487ABE873}"/>
                </a:ext>
              </a:extLst>
            </p:cNvPr>
            <p:cNvSpPr/>
            <p:nvPr/>
          </p:nvSpPr>
          <p:spPr>
            <a:xfrm>
              <a:off x="4141671" y="2032986"/>
              <a:ext cx="5810864" cy="953729"/>
            </a:xfrm>
            <a:prstGeom prst="roundRect">
              <a:avLst>
                <a:gd name="adj" fmla="val 50000"/>
              </a:avLst>
            </a:prstGeom>
            <a:gradFill>
              <a:gsLst>
                <a:gs pos="73000">
                  <a:schemeClr val="bg1">
                    <a:alpha val="0"/>
                  </a:schemeClr>
                </a:gs>
                <a:gs pos="0">
                  <a:schemeClr val="bg1">
                    <a:alpha val="0"/>
                  </a:schemeClr>
                </a:gs>
                <a:gs pos="100000">
                  <a:schemeClr val="bg1"/>
                </a:gs>
              </a:gsLst>
              <a:lin ang="2700000" scaled="0"/>
            </a:gradFill>
            <a:ln>
              <a:noFill/>
            </a:ln>
            <a:effectLst>
              <a:innerShdw blurRad="177800" dist="114300" dir="13200000">
                <a:prstClr val="black">
                  <a:alpha val="15000"/>
                </a:prst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2000" dirty="0">
                  <a:solidFill>
                    <a:schemeClr val="accent3">
                      <a:lumMod val="75000"/>
                    </a:schemeClr>
                  </a:solidFill>
                  <a:latin typeface="페이퍼로지 6 SemiBold" pitchFamily="2" charset="-127"/>
                  <a:ea typeface="페이퍼로지 6 SemiBold" pitchFamily="2" charset="-127"/>
                </a:rPr>
                <a:t>제주 및 전국 재활용 실적</a:t>
              </a:r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F88562C1-5220-EBA5-FC6D-7D1BEFA9B8D3}"/>
              </a:ext>
            </a:extLst>
          </p:cNvPr>
          <p:cNvSpPr txBox="1"/>
          <p:nvPr/>
        </p:nvSpPr>
        <p:spPr>
          <a:xfrm>
            <a:off x="455713" y="6441440"/>
            <a:ext cx="835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페이퍼로지 1 Thin" pitchFamily="2" charset="-127"/>
                <a:ea typeface="페이퍼로지 1 Thin" pitchFamily="2" charset="-127"/>
              </a:rPr>
              <a:t>Team 4</a:t>
            </a:r>
            <a:endParaRPr lang="ko-KR" altLang="en-US" sz="1400" dirty="0">
              <a:solidFill>
                <a:schemeClr val="bg1">
                  <a:lumMod val="85000"/>
                </a:schemeClr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  <p:sp>
        <p:nvSpPr>
          <p:cNvPr id="56" name="타원 55">
            <a:extLst>
              <a:ext uri="{FF2B5EF4-FFF2-40B4-BE49-F238E27FC236}">
                <a16:creationId xmlns:a16="http://schemas.microsoft.com/office/drawing/2014/main" id="{43482E1A-1685-1094-3357-0B522A290F23}"/>
              </a:ext>
            </a:extLst>
          </p:cNvPr>
          <p:cNvSpPr/>
          <p:nvPr/>
        </p:nvSpPr>
        <p:spPr>
          <a:xfrm>
            <a:off x="675640" y="2548506"/>
            <a:ext cx="762000" cy="762000"/>
          </a:xfrm>
          <a:prstGeom prst="ellipse">
            <a:avLst/>
          </a:prstGeom>
          <a:gradFill>
            <a:gsLst>
              <a:gs pos="200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페이퍼로지 7 Bold" pitchFamily="2" charset="-127"/>
                <a:ea typeface="페이퍼로지 7 Bold" pitchFamily="2" charset="-127"/>
              </a:rPr>
              <a:t>1</a:t>
            </a:r>
            <a:endParaRPr lang="ko-KR" altLang="en-US" sz="28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93BC4097-6BDC-ADEA-C133-AF8F78EAF603}"/>
              </a:ext>
            </a:extLst>
          </p:cNvPr>
          <p:cNvSpPr/>
          <p:nvPr/>
        </p:nvSpPr>
        <p:spPr>
          <a:xfrm>
            <a:off x="675640" y="3830482"/>
            <a:ext cx="762000" cy="762000"/>
          </a:xfrm>
          <a:prstGeom prst="ellipse">
            <a:avLst/>
          </a:prstGeom>
          <a:gradFill>
            <a:gsLst>
              <a:gs pos="200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페이퍼로지 7 Bold" pitchFamily="2" charset="-127"/>
                <a:ea typeface="페이퍼로지 7 Bold" pitchFamily="2" charset="-127"/>
              </a:rPr>
              <a:t>2</a:t>
            </a:r>
            <a:endParaRPr lang="ko-KR" altLang="en-US" sz="28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06386D6B-2FB4-2EA3-C606-DC64600C048F}"/>
              </a:ext>
            </a:extLst>
          </p:cNvPr>
          <p:cNvSpPr/>
          <p:nvPr/>
        </p:nvSpPr>
        <p:spPr>
          <a:xfrm>
            <a:off x="675640" y="5097372"/>
            <a:ext cx="762000" cy="762000"/>
          </a:xfrm>
          <a:prstGeom prst="ellipse">
            <a:avLst/>
          </a:prstGeom>
          <a:gradFill>
            <a:gsLst>
              <a:gs pos="2000">
                <a:schemeClr val="accent3">
                  <a:lumMod val="40000"/>
                  <a:lumOff val="6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27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19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latin typeface="페이퍼로지 7 Bold" pitchFamily="2" charset="-127"/>
                <a:ea typeface="페이퍼로지 7 Bold" pitchFamily="2" charset="-127"/>
              </a:rPr>
              <a:t>3</a:t>
            </a:r>
            <a:endParaRPr lang="ko-KR" altLang="en-US" sz="2800" dirty="0">
              <a:latin typeface="페이퍼로지 7 Bold" pitchFamily="2" charset="-127"/>
              <a:ea typeface="페이퍼로지 7 Bold" pitchFamily="2" charset="-127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A239563-E927-9A39-6789-D7AC901791CE}"/>
              </a:ext>
            </a:extLst>
          </p:cNvPr>
          <p:cNvSpPr txBox="1"/>
          <p:nvPr/>
        </p:nvSpPr>
        <p:spPr>
          <a:xfrm>
            <a:off x="2179276" y="422787"/>
            <a:ext cx="24384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데이터 </a:t>
            </a:r>
            <a:r>
              <a:rPr lang="ko-KR" altLang="en-US" sz="32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rPr>
              <a:t>전처리</a:t>
            </a:r>
            <a:endParaRPr lang="ko-KR" altLang="en-US" sz="3200" dirty="0">
              <a:solidFill>
                <a:schemeClr val="accent3">
                  <a:lumMod val="60000"/>
                  <a:lumOff val="40000"/>
                </a:schemeClr>
              </a:solidFill>
              <a:latin typeface="페이퍼로지 7 Bold" pitchFamily="2" charset="-127"/>
              <a:ea typeface="페이퍼로지 7 Bold" pitchFamily="2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80C4D06-1A89-9B07-BFFC-7A7522E96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1098" y="2138355"/>
            <a:ext cx="4557936" cy="35438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EF3E19A-DFF1-91FA-4A5F-C782DA2DD3E1}"/>
              </a:ext>
            </a:extLst>
          </p:cNvPr>
          <p:cNvSpPr txBox="1"/>
          <p:nvPr/>
        </p:nvSpPr>
        <p:spPr>
          <a:xfrm>
            <a:off x="455713" y="284287"/>
            <a:ext cx="15680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02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프로젝트 진행 상황</a:t>
            </a:r>
          </a:p>
        </p:txBody>
      </p:sp>
    </p:spTree>
    <p:extLst>
      <p:ext uri="{BB962C8B-B14F-4D97-AF65-F5344CB8AC3E}">
        <p14:creationId xmlns:p14="http://schemas.microsoft.com/office/powerpoint/2010/main" val="17282926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77E124-E54B-C219-222A-27F21260C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4703A648-A35E-A8DD-AD2A-33BE1FDDC25C}"/>
              </a:ext>
            </a:extLst>
          </p:cNvPr>
          <p:cNvSpPr txBox="1"/>
          <p:nvPr/>
        </p:nvSpPr>
        <p:spPr>
          <a:xfrm>
            <a:off x="455713" y="6441440"/>
            <a:ext cx="835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페이퍼로지 1 Thin" pitchFamily="2" charset="-127"/>
                <a:ea typeface="페이퍼로지 1 Thin" pitchFamily="2" charset="-127"/>
              </a:rPr>
              <a:t>Team 4</a:t>
            </a:r>
            <a:endParaRPr lang="ko-KR" altLang="en-US" sz="1400" dirty="0">
              <a:solidFill>
                <a:schemeClr val="bg1">
                  <a:lumMod val="85000"/>
                </a:schemeClr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F45C43-166F-1E56-12C4-FACF7A566CE2}"/>
              </a:ext>
            </a:extLst>
          </p:cNvPr>
          <p:cNvSpPr txBox="1"/>
          <p:nvPr/>
        </p:nvSpPr>
        <p:spPr>
          <a:xfrm>
            <a:off x="455713" y="284287"/>
            <a:ext cx="995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03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추후 계획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682DF1-4815-4015-279F-AC7B4BA4FC2D}"/>
              </a:ext>
            </a:extLst>
          </p:cNvPr>
          <p:cNvSpPr txBox="1"/>
          <p:nvPr/>
        </p:nvSpPr>
        <p:spPr>
          <a:xfrm>
            <a:off x="5021892" y="469722"/>
            <a:ext cx="21579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8 ExtraBold" pitchFamily="2" charset="-127"/>
                <a:ea typeface="페이퍼로지 8 ExtraBold" pitchFamily="2" charset="-127"/>
              </a:rPr>
              <a:t>프로젝트 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C92343A-590F-44DB-0E54-9C8212C287AA}"/>
              </a:ext>
            </a:extLst>
          </p:cNvPr>
          <p:cNvSpPr txBox="1"/>
          <p:nvPr/>
        </p:nvSpPr>
        <p:spPr>
          <a:xfrm>
            <a:off x="4933658" y="908877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3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총 </a:t>
            </a:r>
            <a:r>
              <a:rPr lang="en-US" altLang="ko-KR" dirty="0">
                <a:solidFill>
                  <a:schemeClr val="accent3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3</a:t>
            </a:r>
            <a:r>
              <a:rPr lang="ko-KR" altLang="en-US" dirty="0">
                <a:solidFill>
                  <a:schemeClr val="accent3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단계의 절차를 계획</a:t>
            </a: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BF4AFED8-3992-8B1A-6F1C-DEA2D9744B2A}"/>
              </a:ext>
            </a:extLst>
          </p:cNvPr>
          <p:cNvGrpSpPr/>
          <p:nvPr/>
        </p:nvGrpSpPr>
        <p:grpSpPr>
          <a:xfrm>
            <a:off x="4695824" y="2181225"/>
            <a:ext cx="2800350" cy="3790950"/>
            <a:chOff x="4695824" y="2181225"/>
            <a:chExt cx="2800350" cy="379095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7188BD57-1DC8-FE73-A41A-112A1835408E}"/>
                </a:ext>
              </a:extLst>
            </p:cNvPr>
            <p:cNvGrpSpPr/>
            <p:nvPr/>
          </p:nvGrpSpPr>
          <p:grpSpPr>
            <a:xfrm>
              <a:off x="4695824" y="2181225"/>
              <a:ext cx="2800350" cy="3790950"/>
              <a:chOff x="4695824" y="1866900"/>
              <a:chExt cx="2800350" cy="3790950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6B8518F8-824A-E242-BF87-7677E7B923FF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52400" dist="127000" dir="13500000" algn="r" rotWithShape="0">
                  <a:schemeClr val="bg1">
                    <a:alpha val="78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141A1CE5-E9E7-823A-12BB-1FF2FEEDE782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90500" dist="127000" dir="27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DE0A19C-1E6C-22F7-F7BE-CE771E92E04E}"/>
                </a:ext>
              </a:extLst>
            </p:cNvPr>
            <p:cNvSpPr txBox="1"/>
            <p:nvPr/>
          </p:nvSpPr>
          <p:spPr>
            <a:xfrm>
              <a:off x="4876753" y="3784311"/>
              <a:ext cx="24384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데이터 시각화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80ECFC-FEB0-5BDE-94B8-CC2C903D0EE7}"/>
                </a:ext>
              </a:extLst>
            </p:cNvPr>
            <p:cNvSpPr txBox="1"/>
            <p:nvPr/>
          </p:nvSpPr>
          <p:spPr>
            <a:xfrm>
              <a:off x="5036254" y="4635728"/>
              <a:ext cx="211949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분석 결과를 바탕으로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데이터 시각화 진행</a:t>
              </a:r>
            </a:p>
          </p:txBody>
        </p:sp>
        <p:pic>
          <p:nvPicPr>
            <p:cNvPr id="13" name="그래픽 12" descr="막대 그래프 상향 추세 단색으로 채워진">
              <a:extLst>
                <a:ext uri="{FF2B5EF4-FFF2-40B4-BE49-F238E27FC236}">
                  <a16:creationId xmlns:a16="http://schemas.microsoft.com/office/drawing/2014/main" id="{2BC0B90B-04D2-24EB-8C59-0BB0C7F1FD1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53069" y="2596028"/>
              <a:ext cx="1085851" cy="1085851"/>
            </a:xfrm>
            <a:prstGeom prst="rect">
              <a:avLst/>
            </a:prstGeom>
          </p:spPr>
        </p:pic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822AB356-357B-08EB-A933-2430F9E1E1D3}"/>
              </a:ext>
            </a:extLst>
          </p:cNvPr>
          <p:cNvGrpSpPr/>
          <p:nvPr/>
        </p:nvGrpSpPr>
        <p:grpSpPr>
          <a:xfrm>
            <a:off x="1139302" y="2181225"/>
            <a:ext cx="2800350" cy="3790950"/>
            <a:chOff x="1139302" y="2181225"/>
            <a:chExt cx="2800350" cy="379095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2ADBB10-1361-2681-A877-F207D71AC09B}"/>
                </a:ext>
              </a:extLst>
            </p:cNvPr>
            <p:cNvGrpSpPr/>
            <p:nvPr/>
          </p:nvGrpSpPr>
          <p:grpSpPr>
            <a:xfrm>
              <a:off x="1139302" y="2181225"/>
              <a:ext cx="2800350" cy="3790950"/>
              <a:chOff x="4695824" y="1866900"/>
              <a:chExt cx="2800350" cy="3790950"/>
            </a:xfrm>
          </p:grpSpPr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DBD5C9D0-9286-CA7B-C46E-B9B6CD45A0EC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52400" dist="127000" dir="13500000" algn="r" rotWithShape="0">
                  <a:schemeClr val="bg1">
                    <a:alpha val="78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755E6A79-4DEC-3A39-1C2E-4EF0591F0047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90500" dist="127000" dir="27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2638BF2-8547-479B-D4D0-029C5F935F15}"/>
                </a:ext>
              </a:extLst>
            </p:cNvPr>
            <p:cNvSpPr txBox="1"/>
            <p:nvPr/>
          </p:nvSpPr>
          <p:spPr>
            <a:xfrm>
              <a:off x="1500568" y="3784312"/>
              <a:ext cx="20778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데이터 분석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C4F4F8D-70E9-FEAE-EAB3-866D52F27A9E}"/>
                </a:ext>
              </a:extLst>
            </p:cNvPr>
            <p:cNvSpPr txBox="1"/>
            <p:nvPr/>
          </p:nvSpPr>
          <p:spPr>
            <a:xfrm>
              <a:off x="1428432" y="4647411"/>
              <a:ext cx="22220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데이터 </a:t>
              </a:r>
              <a:r>
                <a:rPr lang="ko-KR" altLang="en-US" dirty="0" err="1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전처리</a:t>
              </a:r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완료 후 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분석 진행</a:t>
              </a:r>
            </a:p>
          </p:txBody>
        </p:sp>
        <p:pic>
          <p:nvPicPr>
            <p:cNvPr id="25" name="그래픽 24" descr="데이터베이스 단색으로 채워진">
              <a:extLst>
                <a:ext uri="{FF2B5EF4-FFF2-40B4-BE49-F238E27FC236}">
                  <a16:creationId xmlns:a16="http://schemas.microsoft.com/office/drawing/2014/main" id="{69560D5B-5173-14BF-5053-5531A4D0C1C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82273" y="2648679"/>
              <a:ext cx="914400" cy="914400"/>
            </a:xfrm>
            <a:prstGeom prst="rect">
              <a:avLst/>
            </a:prstGeom>
          </p:spPr>
        </p:pic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154AB5B8-521D-752B-21B1-345AAEF8966D}"/>
              </a:ext>
            </a:extLst>
          </p:cNvPr>
          <p:cNvGrpSpPr/>
          <p:nvPr/>
        </p:nvGrpSpPr>
        <p:grpSpPr>
          <a:xfrm>
            <a:off x="8252348" y="2181225"/>
            <a:ext cx="2800350" cy="3790950"/>
            <a:chOff x="8252348" y="2181225"/>
            <a:chExt cx="2800350" cy="3790950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789E270A-FFF9-185E-691D-6DB4F93B1985}"/>
                </a:ext>
              </a:extLst>
            </p:cNvPr>
            <p:cNvGrpSpPr/>
            <p:nvPr/>
          </p:nvGrpSpPr>
          <p:grpSpPr>
            <a:xfrm>
              <a:off x="8252348" y="2181225"/>
              <a:ext cx="2800350" cy="3790950"/>
              <a:chOff x="4695824" y="1866900"/>
              <a:chExt cx="2800350" cy="3790950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F9B116CF-6237-6B5C-B78A-18DBFF0F8B62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52400" dist="127000" dir="13500000" algn="r" rotWithShape="0">
                  <a:schemeClr val="bg1">
                    <a:alpha val="78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53F8612B-0482-73E0-2051-1812E9FD69AB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90500" dist="127000" dir="27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60924C1-FAD7-4797-8057-5F3DA4AF1751}"/>
                </a:ext>
              </a:extLst>
            </p:cNvPr>
            <p:cNvSpPr txBox="1"/>
            <p:nvPr/>
          </p:nvSpPr>
          <p:spPr>
            <a:xfrm>
              <a:off x="8433279" y="3784311"/>
              <a:ext cx="24384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웹사이트 개발</a:t>
              </a:r>
              <a:endParaRPr lang="ko-KR" alt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99555BF-E83D-0842-F459-E74C7B949990}"/>
                </a:ext>
              </a:extLst>
            </p:cNvPr>
            <p:cNvSpPr txBox="1"/>
            <p:nvPr/>
          </p:nvSpPr>
          <p:spPr>
            <a:xfrm>
              <a:off x="8389196" y="4508911"/>
              <a:ext cx="252665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데이터 분석 및 시각화 후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산출된 인사이트 바탕으로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웹사이트 개발</a:t>
              </a:r>
            </a:p>
          </p:txBody>
        </p:sp>
        <p:pic>
          <p:nvPicPr>
            <p:cNvPr id="33" name="그래픽 32" descr="인터넷 단색으로 채워진">
              <a:extLst>
                <a:ext uri="{FF2B5EF4-FFF2-40B4-BE49-F238E27FC236}">
                  <a16:creationId xmlns:a16="http://schemas.microsoft.com/office/drawing/2014/main" id="{08BD66AB-C183-8E6D-C339-2D74F41759E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15425" y="2564458"/>
              <a:ext cx="1080028" cy="1080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41685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6E3B09-C6CA-8AD7-7E3E-59BB9F124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F2C8D297-F401-F682-A063-CE752F1584C1}"/>
              </a:ext>
            </a:extLst>
          </p:cNvPr>
          <p:cNvSpPr txBox="1"/>
          <p:nvPr/>
        </p:nvSpPr>
        <p:spPr>
          <a:xfrm>
            <a:off x="455713" y="6441440"/>
            <a:ext cx="835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페이퍼로지 1 Thin" pitchFamily="2" charset="-127"/>
                <a:ea typeface="페이퍼로지 1 Thin" pitchFamily="2" charset="-127"/>
              </a:rPr>
              <a:t>Team 4</a:t>
            </a:r>
            <a:endParaRPr lang="ko-KR" altLang="en-US" sz="1400" dirty="0">
              <a:solidFill>
                <a:schemeClr val="bg1">
                  <a:lumMod val="85000"/>
                </a:schemeClr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5AD956-FC6E-C186-9745-08B4AA7FAADC}"/>
              </a:ext>
            </a:extLst>
          </p:cNvPr>
          <p:cNvSpPr txBox="1"/>
          <p:nvPr/>
        </p:nvSpPr>
        <p:spPr>
          <a:xfrm>
            <a:off x="455713" y="284287"/>
            <a:ext cx="995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03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추후 계획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7241F0-E7F8-2F9C-513E-3850E8CD7CD0}"/>
              </a:ext>
            </a:extLst>
          </p:cNvPr>
          <p:cNvSpPr txBox="1"/>
          <p:nvPr/>
        </p:nvSpPr>
        <p:spPr>
          <a:xfrm>
            <a:off x="5021892" y="469722"/>
            <a:ext cx="21579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8 ExtraBold" pitchFamily="2" charset="-127"/>
                <a:ea typeface="페이퍼로지 8 ExtraBold" pitchFamily="2" charset="-127"/>
              </a:rPr>
              <a:t>프로젝트 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F990C1-F6BC-3C79-70ED-C61F3C8E2C15}"/>
              </a:ext>
            </a:extLst>
          </p:cNvPr>
          <p:cNvSpPr txBox="1"/>
          <p:nvPr/>
        </p:nvSpPr>
        <p:spPr>
          <a:xfrm>
            <a:off x="4933658" y="908877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3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총 </a:t>
            </a:r>
            <a:r>
              <a:rPr lang="en-US" altLang="ko-KR" dirty="0">
                <a:solidFill>
                  <a:schemeClr val="accent3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3</a:t>
            </a:r>
            <a:r>
              <a:rPr lang="ko-KR" altLang="en-US" dirty="0">
                <a:solidFill>
                  <a:schemeClr val="accent3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단계의 절차를 계획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A21B1A11-DE94-5FD2-6C49-C390397A6B2E}"/>
              </a:ext>
            </a:extLst>
          </p:cNvPr>
          <p:cNvGrpSpPr/>
          <p:nvPr/>
        </p:nvGrpSpPr>
        <p:grpSpPr>
          <a:xfrm>
            <a:off x="4695824" y="2181225"/>
            <a:ext cx="2800350" cy="3790950"/>
            <a:chOff x="4695824" y="2181225"/>
            <a:chExt cx="2800350" cy="379095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2A4085EC-3076-8F9A-9D9B-231C6C2EBA72}"/>
                </a:ext>
              </a:extLst>
            </p:cNvPr>
            <p:cNvGrpSpPr/>
            <p:nvPr/>
          </p:nvGrpSpPr>
          <p:grpSpPr>
            <a:xfrm>
              <a:off x="4695824" y="2181225"/>
              <a:ext cx="2800350" cy="3790950"/>
              <a:chOff x="4695824" y="1866900"/>
              <a:chExt cx="2800350" cy="3790950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B5D31F26-9B50-C78A-DCB4-739251BC5F3A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52400" dist="127000" dir="13500000" algn="r" rotWithShape="0">
                  <a:schemeClr val="bg1">
                    <a:alpha val="78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47B79107-B504-A65E-4AD7-ECF9C3EFD9C8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90500" dist="127000" dir="27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1312FD8-35BB-DEB6-EBB8-0E46BEF0947E}"/>
                </a:ext>
              </a:extLst>
            </p:cNvPr>
            <p:cNvSpPr txBox="1"/>
            <p:nvPr/>
          </p:nvSpPr>
          <p:spPr>
            <a:xfrm>
              <a:off x="4876753" y="3784311"/>
              <a:ext cx="24384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데이터 시각화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92B85C5-66EE-66F3-953B-B6582BBD4322}"/>
                </a:ext>
              </a:extLst>
            </p:cNvPr>
            <p:cNvSpPr txBox="1"/>
            <p:nvPr/>
          </p:nvSpPr>
          <p:spPr>
            <a:xfrm>
              <a:off x="5036254" y="4635728"/>
              <a:ext cx="211949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분석 결과를 바탕으로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데이터 시각화 진행</a:t>
              </a:r>
            </a:p>
          </p:txBody>
        </p:sp>
        <p:pic>
          <p:nvPicPr>
            <p:cNvPr id="13" name="그래픽 12" descr="막대 그래프 상향 추세 단색으로 채워진">
              <a:extLst>
                <a:ext uri="{FF2B5EF4-FFF2-40B4-BE49-F238E27FC236}">
                  <a16:creationId xmlns:a16="http://schemas.microsoft.com/office/drawing/2014/main" id="{9B820876-5181-36F4-CA7E-B2A3D53D121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53069" y="2596028"/>
              <a:ext cx="1085851" cy="1085851"/>
            </a:xfrm>
            <a:prstGeom prst="rect">
              <a:avLst/>
            </a:prstGeom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8DE07CDF-B78A-77AE-DABE-A7D9399F76ED}"/>
              </a:ext>
            </a:extLst>
          </p:cNvPr>
          <p:cNvGrpSpPr/>
          <p:nvPr/>
        </p:nvGrpSpPr>
        <p:grpSpPr>
          <a:xfrm>
            <a:off x="1139302" y="1724025"/>
            <a:ext cx="2800350" cy="3790950"/>
            <a:chOff x="1139302" y="1724025"/>
            <a:chExt cx="2800350" cy="379095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51F07D2-51B0-1CCF-A5CE-3DF0A2D30B86}"/>
                </a:ext>
              </a:extLst>
            </p:cNvPr>
            <p:cNvGrpSpPr/>
            <p:nvPr/>
          </p:nvGrpSpPr>
          <p:grpSpPr>
            <a:xfrm>
              <a:off x="1139302" y="1724025"/>
              <a:ext cx="2800350" cy="3790950"/>
              <a:chOff x="4695824" y="1866900"/>
              <a:chExt cx="2800350" cy="3790950"/>
            </a:xfrm>
            <a:gradFill>
              <a:gsLst>
                <a:gs pos="2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2700000" scaled="0"/>
            </a:gradFill>
          </p:grpSpPr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ADE7EB0F-8589-B2A7-20F3-4EA004560198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grpFill/>
              <a:ln>
                <a:noFill/>
              </a:ln>
              <a:effectLst>
                <a:outerShdw blurRad="152400" dist="127000" dir="13500000" algn="r" rotWithShape="0">
                  <a:schemeClr val="bg1">
                    <a:alpha val="78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958C9F4C-0F10-3C86-288C-8799747C0AFA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grpFill/>
              <a:ln>
                <a:noFill/>
              </a:ln>
              <a:effectLst>
                <a:outerShdw blurRad="190500" dist="127000" dir="27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624512E-651D-4DF2-ED01-09BE577A9FD6}"/>
                </a:ext>
              </a:extLst>
            </p:cNvPr>
            <p:cNvSpPr txBox="1"/>
            <p:nvPr/>
          </p:nvSpPr>
          <p:spPr>
            <a:xfrm>
              <a:off x="1500568" y="3327112"/>
              <a:ext cx="20778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데이터 분석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F4EA839-1EF2-477D-75D9-4A921CDD8CAF}"/>
                </a:ext>
              </a:extLst>
            </p:cNvPr>
            <p:cNvSpPr txBox="1"/>
            <p:nvPr/>
          </p:nvSpPr>
          <p:spPr>
            <a:xfrm>
              <a:off x="1428432" y="4190211"/>
              <a:ext cx="22220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데이터 </a:t>
              </a:r>
              <a:r>
                <a:rPr lang="ko-KR" altLang="en-US" dirty="0" err="1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전처리</a:t>
              </a:r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완료 후 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분석 진행</a:t>
              </a:r>
            </a:p>
          </p:txBody>
        </p:sp>
        <p:pic>
          <p:nvPicPr>
            <p:cNvPr id="25" name="그래픽 24" descr="데이터베이스 단색으로 채워진">
              <a:extLst>
                <a:ext uri="{FF2B5EF4-FFF2-40B4-BE49-F238E27FC236}">
                  <a16:creationId xmlns:a16="http://schemas.microsoft.com/office/drawing/2014/main" id="{E311E12F-C577-9E8A-06A4-2B8532D08CF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82273" y="2191479"/>
              <a:ext cx="914400" cy="914400"/>
            </a:xfrm>
            <a:prstGeom prst="rect">
              <a:avLst/>
            </a:prstGeom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0100CBD6-55A0-220B-5604-B97A1CE40625}"/>
              </a:ext>
            </a:extLst>
          </p:cNvPr>
          <p:cNvGrpSpPr/>
          <p:nvPr/>
        </p:nvGrpSpPr>
        <p:grpSpPr>
          <a:xfrm>
            <a:off x="8252348" y="2181225"/>
            <a:ext cx="2800350" cy="3790950"/>
            <a:chOff x="8252348" y="2181225"/>
            <a:chExt cx="2800350" cy="3790950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4F551F9-74F9-7DAB-BC71-8EFC3F37482E}"/>
                </a:ext>
              </a:extLst>
            </p:cNvPr>
            <p:cNvGrpSpPr/>
            <p:nvPr/>
          </p:nvGrpSpPr>
          <p:grpSpPr>
            <a:xfrm>
              <a:off x="8252348" y="2181225"/>
              <a:ext cx="2800350" cy="3790950"/>
              <a:chOff x="4695824" y="1866900"/>
              <a:chExt cx="2800350" cy="3790950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109B89BA-0198-FAE1-E7C2-F0CA47B94F58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52400" dist="127000" dir="13500000" algn="r" rotWithShape="0">
                  <a:schemeClr val="bg1">
                    <a:alpha val="78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A0CC0AE7-4518-280E-B6D0-FE6184804B01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90500" dist="127000" dir="27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5DD791A-6A7E-58CE-5393-BCCA28E095A4}"/>
                </a:ext>
              </a:extLst>
            </p:cNvPr>
            <p:cNvSpPr txBox="1"/>
            <p:nvPr/>
          </p:nvSpPr>
          <p:spPr>
            <a:xfrm>
              <a:off x="8433279" y="3784311"/>
              <a:ext cx="24384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웹사이트 개발</a:t>
              </a:r>
              <a:endParaRPr lang="ko-KR" alt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56BAB7D-05FB-8DC9-A9FC-58209135907A}"/>
                </a:ext>
              </a:extLst>
            </p:cNvPr>
            <p:cNvSpPr txBox="1"/>
            <p:nvPr/>
          </p:nvSpPr>
          <p:spPr>
            <a:xfrm>
              <a:off x="8389196" y="4508911"/>
              <a:ext cx="252665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데이터 분석 및 시각화 후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산출된 인사이트 바탕으로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웹사이트 개발</a:t>
              </a:r>
            </a:p>
          </p:txBody>
        </p:sp>
        <p:pic>
          <p:nvPicPr>
            <p:cNvPr id="33" name="그래픽 32" descr="인터넷 단색으로 채워진">
              <a:extLst>
                <a:ext uri="{FF2B5EF4-FFF2-40B4-BE49-F238E27FC236}">
                  <a16:creationId xmlns:a16="http://schemas.microsoft.com/office/drawing/2014/main" id="{07CE6545-C308-DBF3-E1D6-17647451B3D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15425" y="2564458"/>
              <a:ext cx="1080028" cy="1080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480062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46035E-FCB7-8CAD-2191-83AEA87DE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5B216BFD-CD82-3D28-7B19-D364287620B8}"/>
              </a:ext>
            </a:extLst>
          </p:cNvPr>
          <p:cNvSpPr txBox="1"/>
          <p:nvPr/>
        </p:nvSpPr>
        <p:spPr>
          <a:xfrm>
            <a:off x="455713" y="6441440"/>
            <a:ext cx="835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페이퍼로지 1 Thin" pitchFamily="2" charset="-127"/>
                <a:ea typeface="페이퍼로지 1 Thin" pitchFamily="2" charset="-127"/>
              </a:rPr>
              <a:t>Team 4</a:t>
            </a:r>
            <a:endParaRPr lang="ko-KR" altLang="en-US" sz="1400" dirty="0">
              <a:solidFill>
                <a:schemeClr val="bg1">
                  <a:lumMod val="85000"/>
                </a:schemeClr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C333048-247E-74BE-3F7A-D4600B8FF738}"/>
              </a:ext>
            </a:extLst>
          </p:cNvPr>
          <p:cNvSpPr txBox="1"/>
          <p:nvPr/>
        </p:nvSpPr>
        <p:spPr>
          <a:xfrm>
            <a:off x="455713" y="284287"/>
            <a:ext cx="995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03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추후 계획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4658774-CD4D-9197-3B49-6BEB14CE2C20}"/>
              </a:ext>
            </a:extLst>
          </p:cNvPr>
          <p:cNvSpPr txBox="1"/>
          <p:nvPr/>
        </p:nvSpPr>
        <p:spPr>
          <a:xfrm>
            <a:off x="5021892" y="469722"/>
            <a:ext cx="21579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8 ExtraBold" pitchFamily="2" charset="-127"/>
                <a:ea typeface="페이퍼로지 8 ExtraBold" pitchFamily="2" charset="-127"/>
              </a:rPr>
              <a:t>프로젝트 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766291-7E27-EF9C-7BDC-42A45C287C6D}"/>
              </a:ext>
            </a:extLst>
          </p:cNvPr>
          <p:cNvSpPr txBox="1"/>
          <p:nvPr/>
        </p:nvSpPr>
        <p:spPr>
          <a:xfrm>
            <a:off x="4933658" y="908877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3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총 </a:t>
            </a:r>
            <a:r>
              <a:rPr lang="en-US" altLang="ko-KR" dirty="0">
                <a:solidFill>
                  <a:schemeClr val="accent3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3</a:t>
            </a:r>
            <a:r>
              <a:rPr lang="ko-KR" altLang="en-US" dirty="0">
                <a:solidFill>
                  <a:schemeClr val="accent3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단계의 절차를 계획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AEAFB4B-6BB7-792C-2E22-E136B9A40AF2}"/>
              </a:ext>
            </a:extLst>
          </p:cNvPr>
          <p:cNvGrpSpPr/>
          <p:nvPr/>
        </p:nvGrpSpPr>
        <p:grpSpPr>
          <a:xfrm>
            <a:off x="4695824" y="1695450"/>
            <a:ext cx="2800350" cy="3790950"/>
            <a:chOff x="4695824" y="1695450"/>
            <a:chExt cx="2800350" cy="379095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AD111EA5-61A6-CEE0-8A05-13568F6F00B9}"/>
                </a:ext>
              </a:extLst>
            </p:cNvPr>
            <p:cNvGrpSpPr/>
            <p:nvPr/>
          </p:nvGrpSpPr>
          <p:grpSpPr>
            <a:xfrm>
              <a:off x="4695824" y="1695450"/>
              <a:ext cx="2800350" cy="3790950"/>
              <a:chOff x="4695824" y="1866900"/>
              <a:chExt cx="2800350" cy="3790950"/>
            </a:xfrm>
            <a:gradFill>
              <a:gsLst>
                <a:gs pos="2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2700000" scaled="0"/>
            </a:gradFill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F77CA6D5-A510-2074-FFD3-D4ED57EB057B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grpFill/>
              <a:ln>
                <a:noFill/>
              </a:ln>
              <a:effectLst>
                <a:outerShdw blurRad="152400" dist="127000" dir="13500000" algn="r" rotWithShape="0">
                  <a:schemeClr val="bg1">
                    <a:alpha val="78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7C8DD13D-9FE1-670A-5276-010FC03C3F9F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grpFill/>
              <a:ln>
                <a:noFill/>
              </a:ln>
              <a:effectLst>
                <a:outerShdw blurRad="190500" dist="127000" dir="27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544CE74-E30C-2405-525D-9C4F40C89B4E}"/>
                </a:ext>
              </a:extLst>
            </p:cNvPr>
            <p:cNvSpPr txBox="1"/>
            <p:nvPr/>
          </p:nvSpPr>
          <p:spPr>
            <a:xfrm>
              <a:off x="4876753" y="3298536"/>
              <a:ext cx="24384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데이터 시각화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A9B5A83-D5A3-5863-E71B-D1544FF60B7A}"/>
                </a:ext>
              </a:extLst>
            </p:cNvPr>
            <p:cNvSpPr txBox="1"/>
            <p:nvPr/>
          </p:nvSpPr>
          <p:spPr>
            <a:xfrm>
              <a:off x="5036254" y="4149953"/>
              <a:ext cx="211949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분석 결과를 바탕으로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데이터 시각화 진행</a:t>
              </a:r>
            </a:p>
          </p:txBody>
        </p:sp>
        <p:pic>
          <p:nvPicPr>
            <p:cNvPr id="13" name="그래픽 12" descr="막대 그래프 상향 추세 단색으로 채워진">
              <a:extLst>
                <a:ext uri="{FF2B5EF4-FFF2-40B4-BE49-F238E27FC236}">
                  <a16:creationId xmlns:a16="http://schemas.microsoft.com/office/drawing/2014/main" id="{5D18B4FA-5D57-D8F3-D315-5DF5D12562F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53069" y="2110253"/>
              <a:ext cx="1085851" cy="1085851"/>
            </a:xfrm>
            <a:prstGeom prst="rect">
              <a:avLst/>
            </a:prstGeom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FE3F4352-C3DB-7CB4-F8F2-4F903D6B225B}"/>
              </a:ext>
            </a:extLst>
          </p:cNvPr>
          <p:cNvGrpSpPr/>
          <p:nvPr/>
        </p:nvGrpSpPr>
        <p:grpSpPr>
          <a:xfrm>
            <a:off x="1139302" y="2181225"/>
            <a:ext cx="2800350" cy="3790950"/>
            <a:chOff x="1139302" y="2181225"/>
            <a:chExt cx="2800350" cy="379095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EC02C5E-91BA-52EE-EC5D-58049968B678}"/>
                </a:ext>
              </a:extLst>
            </p:cNvPr>
            <p:cNvGrpSpPr/>
            <p:nvPr/>
          </p:nvGrpSpPr>
          <p:grpSpPr>
            <a:xfrm>
              <a:off x="1139302" y="2181225"/>
              <a:ext cx="2800350" cy="3790950"/>
              <a:chOff x="4695824" y="1866900"/>
              <a:chExt cx="2800350" cy="3790950"/>
            </a:xfrm>
          </p:grpSpPr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5AB4FB42-EFB5-8F08-AF86-B11696A78353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52400" dist="127000" dir="13500000" algn="r" rotWithShape="0">
                  <a:schemeClr val="bg1">
                    <a:alpha val="78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5582358E-22B4-427E-A7D1-AC891E4BCA43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90500" dist="127000" dir="27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6EF60EA-EA9C-DD87-E99D-AB86ABF8D4FA}"/>
                </a:ext>
              </a:extLst>
            </p:cNvPr>
            <p:cNvSpPr txBox="1"/>
            <p:nvPr/>
          </p:nvSpPr>
          <p:spPr>
            <a:xfrm>
              <a:off x="1500568" y="3784312"/>
              <a:ext cx="20778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데이터 분석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B7E9AE0-2A4A-FF5E-8258-D26C16545DF7}"/>
                </a:ext>
              </a:extLst>
            </p:cNvPr>
            <p:cNvSpPr txBox="1"/>
            <p:nvPr/>
          </p:nvSpPr>
          <p:spPr>
            <a:xfrm>
              <a:off x="1428432" y="4647411"/>
              <a:ext cx="22220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데이터 </a:t>
              </a:r>
              <a:r>
                <a:rPr lang="ko-KR" altLang="en-US" dirty="0" err="1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전처리</a:t>
              </a:r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완료 후 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분석 진행</a:t>
              </a:r>
            </a:p>
          </p:txBody>
        </p:sp>
        <p:pic>
          <p:nvPicPr>
            <p:cNvPr id="25" name="그래픽 24" descr="데이터베이스 단색으로 채워진">
              <a:extLst>
                <a:ext uri="{FF2B5EF4-FFF2-40B4-BE49-F238E27FC236}">
                  <a16:creationId xmlns:a16="http://schemas.microsoft.com/office/drawing/2014/main" id="{2D4BD564-AF17-E329-D32B-0138943665F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82273" y="2648679"/>
              <a:ext cx="914400" cy="914400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ED642967-C11D-EA9F-7A91-BBAB211888E5}"/>
              </a:ext>
            </a:extLst>
          </p:cNvPr>
          <p:cNvGrpSpPr/>
          <p:nvPr/>
        </p:nvGrpSpPr>
        <p:grpSpPr>
          <a:xfrm>
            <a:off x="8252348" y="2181225"/>
            <a:ext cx="2800350" cy="3790950"/>
            <a:chOff x="8252348" y="2181225"/>
            <a:chExt cx="2800350" cy="3790950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533984DF-0D25-919D-23F4-18563F4FCEC8}"/>
                </a:ext>
              </a:extLst>
            </p:cNvPr>
            <p:cNvGrpSpPr/>
            <p:nvPr/>
          </p:nvGrpSpPr>
          <p:grpSpPr>
            <a:xfrm>
              <a:off x="8252348" y="2181225"/>
              <a:ext cx="2800350" cy="3790950"/>
              <a:chOff x="4695824" y="1866900"/>
              <a:chExt cx="2800350" cy="3790950"/>
            </a:xfrm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C546BE62-7DAF-80AF-867B-841BFF6E98BA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52400" dist="127000" dir="13500000" algn="r" rotWithShape="0">
                  <a:schemeClr val="bg1">
                    <a:alpha val="78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FBAA6AF1-9F52-F2A6-BB4E-91E4865C0E48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90500" dist="127000" dir="27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476A394-80B0-1A65-367F-8BCDA11EA1E0}"/>
                </a:ext>
              </a:extLst>
            </p:cNvPr>
            <p:cNvSpPr txBox="1"/>
            <p:nvPr/>
          </p:nvSpPr>
          <p:spPr>
            <a:xfrm>
              <a:off x="8433279" y="3784311"/>
              <a:ext cx="24384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웹사이트 개발</a:t>
              </a:r>
              <a:endParaRPr lang="ko-KR" altLang="en-US" sz="3200" dirty="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7 Bold" pitchFamily="2" charset="-127"/>
                <a:ea typeface="페이퍼로지 7 Bold" pitchFamily="2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75674F5-F47B-CA3A-EF0B-8B8EEEA3D44A}"/>
                </a:ext>
              </a:extLst>
            </p:cNvPr>
            <p:cNvSpPr txBox="1"/>
            <p:nvPr/>
          </p:nvSpPr>
          <p:spPr>
            <a:xfrm>
              <a:off x="8389196" y="4508911"/>
              <a:ext cx="252665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데이터 분석 및 시각화 후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산출된 인사이트 바탕으로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웹사이트 개발</a:t>
              </a:r>
            </a:p>
          </p:txBody>
        </p:sp>
        <p:pic>
          <p:nvPicPr>
            <p:cNvPr id="33" name="그래픽 32" descr="인터넷 단색으로 채워진">
              <a:extLst>
                <a:ext uri="{FF2B5EF4-FFF2-40B4-BE49-F238E27FC236}">
                  <a16:creationId xmlns:a16="http://schemas.microsoft.com/office/drawing/2014/main" id="{B54E1E35-6F10-8FDB-03D9-4BD68814523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15425" y="2564458"/>
              <a:ext cx="1080028" cy="1080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270651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609C1B-AD5C-D633-C601-6A24D2E93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61290180-5162-ED83-8C3A-28AFA0A9000C}"/>
              </a:ext>
            </a:extLst>
          </p:cNvPr>
          <p:cNvSpPr txBox="1"/>
          <p:nvPr/>
        </p:nvSpPr>
        <p:spPr>
          <a:xfrm>
            <a:off x="455713" y="6441440"/>
            <a:ext cx="8351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  <a:latin typeface="페이퍼로지 1 Thin" pitchFamily="2" charset="-127"/>
                <a:ea typeface="페이퍼로지 1 Thin" pitchFamily="2" charset="-127"/>
              </a:rPr>
              <a:t>Team 4</a:t>
            </a:r>
            <a:endParaRPr lang="ko-KR" altLang="en-US" sz="1400" dirty="0">
              <a:solidFill>
                <a:schemeClr val="bg1">
                  <a:lumMod val="85000"/>
                </a:schemeClr>
              </a:solidFill>
              <a:latin typeface="페이퍼로지 1 Thin" pitchFamily="2" charset="-127"/>
              <a:ea typeface="페이퍼로지 1 Thin" pitchFamily="2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461F5E-E2B2-AA1F-6332-777DA64B180A}"/>
              </a:ext>
            </a:extLst>
          </p:cNvPr>
          <p:cNvSpPr txBox="1"/>
          <p:nvPr/>
        </p:nvSpPr>
        <p:spPr>
          <a:xfrm>
            <a:off x="455713" y="284287"/>
            <a:ext cx="9957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03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  <a:latin typeface="페이퍼로지 3 Light" pitchFamily="2" charset="-127"/>
                <a:ea typeface="페이퍼로지 3 Light" pitchFamily="2" charset="-127"/>
              </a:rPr>
              <a:t>추후 계획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E49EF2D-6A67-A24D-090C-E1CF8698A2C3}"/>
              </a:ext>
            </a:extLst>
          </p:cNvPr>
          <p:cNvSpPr txBox="1"/>
          <p:nvPr/>
        </p:nvSpPr>
        <p:spPr>
          <a:xfrm>
            <a:off x="5021892" y="469722"/>
            <a:ext cx="21579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800" dirty="0">
                <a:solidFill>
                  <a:schemeClr val="accent3">
                    <a:lumMod val="60000"/>
                    <a:lumOff val="40000"/>
                  </a:schemeClr>
                </a:solidFill>
                <a:latin typeface="페이퍼로지 8 ExtraBold" pitchFamily="2" charset="-127"/>
                <a:ea typeface="페이퍼로지 8 ExtraBold" pitchFamily="2" charset="-127"/>
              </a:rPr>
              <a:t>프로젝트 계획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D555C1-2CC1-A52F-CAF3-DA00A155E56E}"/>
              </a:ext>
            </a:extLst>
          </p:cNvPr>
          <p:cNvSpPr txBox="1"/>
          <p:nvPr/>
        </p:nvSpPr>
        <p:spPr>
          <a:xfrm>
            <a:off x="4933658" y="908877"/>
            <a:ext cx="2324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3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총 </a:t>
            </a:r>
            <a:r>
              <a:rPr lang="en-US" altLang="ko-KR" dirty="0">
                <a:solidFill>
                  <a:schemeClr val="accent3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3</a:t>
            </a:r>
            <a:r>
              <a:rPr lang="ko-KR" altLang="en-US" dirty="0">
                <a:solidFill>
                  <a:schemeClr val="accent3">
                    <a:lumMod val="75000"/>
                  </a:schemeClr>
                </a:solidFill>
                <a:latin typeface="페이퍼로지 6 SemiBold" pitchFamily="2" charset="-127"/>
                <a:ea typeface="페이퍼로지 6 SemiBold" pitchFamily="2" charset="-127"/>
              </a:rPr>
              <a:t>단계의 절차를 계획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48AEF1F5-8599-3A01-E0EA-570FBC040DF2}"/>
              </a:ext>
            </a:extLst>
          </p:cNvPr>
          <p:cNvGrpSpPr/>
          <p:nvPr/>
        </p:nvGrpSpPr>
        <p:grpSpPr>
          <a:xfrm>
            <a:off x="4695824" y="2181225"/>
            <a:ext cx="2800350" cy="3790950"/>
            <a:chOff x="4695824" y="2181225"/>
            <a:chExt cx="2800350" cy="3790950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8F95356-6BFE-578D-480D-F100A9145C5D}"/>
                </a:ext>
              </a:extLst>
            </p:cNvPr>
            <p:cNvGrpSpPr/>
            <p:nvPr/>
          </p:nvGrpSpPr>
          <p:grpSpPr>
            <a:xfrm>
              <a:off x="4695824" y="2181225"/>
              <a:ext cx="2800350" cy="3790950"/>
              <a:chOff x="4695824" y="1866900"/>
              <a:chExt cx="2800350" cy="3790950"/>
            </a:xfrm>
          </p:grpSpPr>
          <p:sp>
            <p:nvSpPr>
              <p:cNvPr id="8" name="사각형: 둥근 모서리 7">
                <a:extLst>
                  <a:ext uri="{FF2B5EF4-FFF2-40B4-BE49-F238E27FC236}">
                    <a16:creationId xmlns:a16="http://schemas.microsoft.com/office/drawing/2014/main" id="{4F02C0D7-C04C-FBA1-66A3-0365085CD789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52400" dist="127000" dir="13500000" algn="r" rotWithShape="0">
                  <a:schemeClr val="bg1">
                    <a:alpha val="78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사각형: 둥근 모서리 8">
                <a:extLst>
                  <a:ext uri="{FF2B5EF4-FFF2-40B4-BE49-F238E27FC236}">
                    <a16:creationId xmlns:a16="http://schemas.microsoft.com/office/drawing/2014/main" id="{5CBCAEF0-A80D-F5BC-2F6E-9B336630E90A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90500" dist="127000" dir="27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2B672732-C19E-6A7F-C158-56ADFC1BEC0E}"/>
                </a:ext>
              </a:extLst>
            </p:cNvPr>
            <p:cNvSpPr txBox="1"/>
            <p:nvPr/>
          </p:nvSpPr>
          <p:spPr>
            <a:xfrm>
              <a:off x="4876753" y="3784311"/>
              <a:ext cx="24384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데이터 시각화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4DF1428-EBEC-F3BB-0078-6804BCFE4E48}"/>
                </a:ext>
              </a:extLst>
            </p:cNvPr>
            <p:cNvSpPr txBox="1"/>
            <p:nvPr/>
          </p:nvSpPr>
          <p:spPr>
            <a:xfrm>
              <a:off x="5036254" y="4635728"/>
              <a:ext cx="211949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분석 결과를 바탕으로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데이터 시각화 진행</a:t>
              </a:r>
            </a:p>
          </p:txBody>
        </p:sp>
        <p:pic>
          <p:nvPicPr>
            <p:cNvPr id="13" name="그래픽 12" descr="막대 그래프 상향 추세 단색으로 채워진">
              <a:extLst>
                <a:ext uri="{FF2B5EF4-FFF2-40B4-BE49-F238E27FC236}">
                  <a16:creationId xmlns:a16="http://schemas.microsoft.com/office/drawing/2014/main" id="{5F08437E-6408-C13A-9C9B-F31BB670CA7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553069" y="2596028"/>
              <a:ext cx="1085851" cy="1085851"/>
            </a:xfrm>
            <a:prstGeom prst="rect">
              <a:avLst/>
            </a:prstGeom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ABAD3E26-86BD-D940-AB7A-CA1FC0DE26F6}"/>
              </a:ext>
            </a:extLst>
          </p:cNvPr>
          <p:cNvGrpSpPr/>
          <p:nvPr/>
        </p:nvGrpSpPr>
        <p:grpSpPr>
          <a:xfrm>
            <a:off x="1139302" y="2181225"/>
            <a:ext cx="2800350" cy="3790950"/>
            <a:chOff x="1139302" y="2181225"/>
            <a:chExt cx="2800350" cy="379095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52F1F9A5-F0DA-0EA3-88A9-86289C9D0D68}"/>
                </a:ext>
              </a:extLst>
            </p:cNvPr>
            <p:cNvGrpSpPr/>
            <p:nvPr/>
          </p:nvGrpSpPr>
          <p:grpSpPr>
            <a:xfrm>
              <a:off x="1139302" y="2181225"/>
              <a:ext cx="2800350" cy="3790950"/>
              <a:chOff x="4695824" y="1866900"/>
              <a:chExt cx="2800350" cy="3790950"/>
            </a:xfrm>
          </p:grpSpPr>
          <p:sp>
            <p:nvSpPr>
              <p:cNvPr id="4" name="사각형: 둥근 모서리 3">
                <a:extLst>
                  <a:ext uri="{FF2B5EF4-FFF2-40B4-BE49-F238E27FC236}">
                    <a16:creationId xmlns:a16="http://schemas.microsoft.com/office/drawing/2014/main" id="{250956FD-E44A-0FBD-4616-19CA8B156B91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52400" dist="127000" dir="13500000" algn="r" rotWithShape="0">
                  <a:schemeClr val="bg1">
                    <a:alpha val="78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" name="사각형: 둥근 모서리 4">
                <a:extLst>
                  <a:ext uri="{FF2B5EF4-FFF2-40B4-BE49-F238E27FC236}">
                    <a16:creationId xmlns:a16="http://schemas.microsoft.com/office/drawing/2014/main" id="{23891575-F44A-C0DC-4BD9-68D9086F6938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solidFill>
                <a:srgbClr val="EBECF0"/>
              </a:solidFill>
              <a:ln>
                <a:noFill/>
              </a:ln>
              <a:effectLst>
                <a:outerShdw blurRad="190500" dist="127000" dir="27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2AA054-824B-C679-2912-40F694E931ED}"/>
                </a:ext>
              </a:extLst>
            </p:cNvPr>
            <p:cNvSpPr txBox="1"/>
            <p:nvPr/>
          </p:nvSpPr>
          <p:spPr>
            <a:xfrm>
              <a:off x="1500568" y="3784312"/>
              <a:ext cx="207781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페이퍼로지 7 Bold" pitchFamily="2" charset="-127"/>
                  <a:ea typeface="페이퍼로지 7 Bold" pitchFamily="2" charset="-127"/>
                </a:rPr>
                <a:t>데이터 분석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A2C343C-5529-3D48-4BBB-5B269DA2199E}"/>
                </a:ext>
              </a:extLst>
            </p:cNvPr>
            <p:cNvSpPr txBox="1"/>
            <p:nvPr/>
          </p:nvSpPr>
          <p:spPr>
            <a:xfrm>
              <a:off x="1428432" y="4647411"/>
              <a:ext cx="222208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데이터 </a:t>
              </a:r>
              <a:r>
                <a:rPr lang="ko-KR" altLang="en-US" dirty="0" err="1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전처리</a:t>
              </a:r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 완료 후 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분석 진행</a:t>
              </a:r>
            </a:p>
          </p:txBody>
        </p:sp>
        <p:pic>
          <p:nvPicPr>
            <p:cNvPr id="25" name="그래픽 24" descr="데이터베이스 단색으로 채워진">
              <a:extLst>
                <a:ext uri="{FF2B5EF4-FFF2-40B4-BE49-F238E27FC236}">
                  <a16:creationId xmlns:a16="http://schemas.microsoft.com/office/drawing/2014/main" id="{2BC7A88F-DFAC-69E7-A1C4-8BD648CC2B0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082273" y="2648679"/>
              <a:ext cx="914400" cy="914400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514B07E-12ED-F754-FB9D-4553C7D1CC70}"/>
              </a:ext>
            </a:extLst>
          </p:cNvPr>
          <p:cNvGrpSpPr/>
          <p:nvPr/>
        </p:nvGrpSpPr>
        <p:grpSpPr>
          <a:xfrm>
            <a:off x="8252348" y="1657350"/>
            <a:ext cx="2800350" cy="3790950"/>
            <a:chOff x="8252348" y="1657350"/>
            <a:chExt cx="2800350" cy="3790950"/>
          </a:xfrm>
        </p:grpSpPr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56B1805F-E33B-C8E5-18C9-391044EEDB3F}"/>
                </a:ext>
              </a:extLst>
            </p:cNvPr>
            <p:cNvGrpSpPr/>
            <p:nvPr/>
          </p:nvGrpSpPr>
          <p:grpSpPr>
            <a:xfrm>
              <a:off x="8252348" y="1657350"/>
              <a:ext cx="2800350" cy="3790950"/>
              <a:chOff x="4695824" y="1866900"/>
              <a:chExt cx="2800350" cy="3790950"/>
            </a:xfrm>
            <a:gradFill>
              <a:gsLst>
                <a:gs pos="2000">
                  <a:schemeClr val="accent3">
                    <a:lumMod val="40000"/>
                    <a:lumOff val="60000"/>
                  </a:schemeClr>
                </a:gs>
                <a:gs pos="100000">
                  <a:schemeClr val="accent3">
                    <a:lumMod val="60000"/>
                    <a:lumOff val="40000"/>
                  </a:schemeClr>
                </a:gs>
              </a:gsLst>
              <a:lin ang="2700000" scaled="0"/>
            </a:gradFill>
          </p:grpSpPr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F7871222-B19B-D9F2-66D7-EBACAD4A62BB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grpFill/>
              <a:ln>
                <a:noFill/>
              </a:ln>
              <a:effectLst>
                <a:outerShdw blurRad="152400" dist="127000" dir="13500000" algn="r" rotWithShape="0">
                  <a:schemeClr val="bg1">
                    <a:alpha val="78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D07A165F-3A62-C1B7-0901-B898067A0FBE}"/>
                  </a:ext>
                </a:extLst>
              </p:cNvPr>
              <p:cNvSpPr/>
              <p:nvPr/>
            </p:nvSpPr>
            <p:spPr>
              <a:xfrm>
                <a:off x="4695824" y="1866900"/>
                <a:ext cx="2800350" cy="3790950"/>
              </a:xfrm>
              <a:prstGeom prst="roundRect">
                <a:avLst>
                  <a:gd name="adj" fmla="val 5442"/>
                </a:avLst>
              </a:prstGeom>
              <a:grpFill/>
              <a:ln>
                <a:noFill/>
              </a:ln>
              <a:effectLst>
                <a:outerShdw blurRad="190500" dist="127000" dir="2700000" algn="tl" rotWithShape="0">
                  <a:prstClr val="black">
                    <a:alpha val="12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F3089F7-339A-1BC0-277C-41FA18BA58BB}"/>
                </a:ext>
              </a:extLst>
            </p:cNvPr>
            <p:cNvSpPr txBox="1"/>
            <p:nvPr/>
          </p:nvSpPr>
          <p:spPr>
            <a:xfrm>
              <a:off x="8433279" y="3260436"/>
              <a:ext cx="2438488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3200" dirty="0">
                  <a:solidFill>
                    <a:schemeClr val="bg1"/>
                  </a:solidFill>
                  <a:latin typeface="페이퍼로지 7 Bold" pitchFamily="2" charset="-127"/>
                  <a:ea typeface="페이퍼로지 7 Bold" pitchFamily="2" charset="-127"/>
                </a:rPr>
                <a:t>웹사이트 개발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5FB64D5-BD40-DD00-0560-A8B607D9AB7E}"/>
                </a:ext>
              </a:extLst>
            </p:cNvPr>
            <p:cNvSpPr txBox="1"/>
            <p:nvPr/>
          </p:nvSpPr>
          <p:spPr>
            <a:xfrm>
              <a:off x="8389196" y="3985036"/>
              <a:ext cx="252665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데이터 분석 및 시각화 후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산출된 인사이트 바탕으로</a:t>
              </a:r>
              <a:endParaRPr lang="en-US" altLang="ko-KR" dirty="0">
                <a:solidFill>
                  <a:schemeClr val="bg2">
                    <a:lumMod val="50000"/>
                  </a:schemeClr>
                </a:solidFill>
                <a:latin typeface="페이퍼로지 5 Medium" pitchFamily="2" charset="-127"/>
                <a:ea typeface="페이퍼로지 5 Medium" pitchFamily="2" charset="-127"/>
              </a:endParaRPr>
            </a:p>
            <a:p>
              <a:pPr algn="ctr"/>
              <a:r>
                <a:rPr lang="ko-KR" altLang="en-US" dirty="0">
                  <a:solidFill>
                    <a:schemeClr val="bg2">
                      <a:lumMod val="50000"/>
                    </a:schemeClr>
                  </a:solidFill>
                  <a:latin typeface="페이퍼로지 5 Medium" pitchFamily="2" charset="-127"/>
                  <a:ea typeface="페이퍼로지 5 Medium" pitchFamily="2" charset="-127"/>
                </a:rPr>
                <a:t>웹사이트 개발</a:t>
              </a:r>
            </a:p>
          </p:txBody>
        </p:sp>
        <p:pic>
          <p:nvPicPr>
            <p:cNvPr id="33" name="그래픽 32" descr="인터넷 단색으로 채워진">
              <a:extLst>
                <a:ext uri="{FF2B5EF4-FFF2-40B4-BE49-F238E27FC236}">
                  <a16:creationId xmlns:a16="http://schemas.microsoft.com/office/drawing/2014/main" id="{6879E47B-DF8A-12A6-9F6A-C7CED002DE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115425" y="2040583"/>
              <a:ext cx="1080028" cy="10800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14630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C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52D2AE98-03F5-D773-E97E-A324039E6E8F}"/>
              </a:ext>
            </a:extLst>
          </p:cNvPr>
          <p:cNvGrpSpPr/>
          <p:nvPr/>
        </p:nvGrpSpPr>
        <p:grpSpPr>
          <a:xfrm>
            <a:off x="4743449" y="2842944"/>
            <a:ext cx="2705101" cy="1323439"/>
            <a:chOff x="4743449" y="4090719"/>
            <a:chExt cx="2705101" cy="1323439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51AEBC09-71D0-4277-0EB4-F578DF5771C2}"/>
                </a:ext>
              </a:extLst>
            </p:cNvPr>
            <p:cNvSpPr txBox="1"/>
            <p:nvPr/>
          </p:nvSpPr>
          <p:spPr>
            <a:xfrm>
              <a:off x="4743449" y="4090719"/>
              <a:ext cx="2705101" cy="1323439"/>
            </a:xfrm>
            <a:prstGeom prst="rect">
              <a:avLst/>
            </a:prstGeom>
            <a:noFill/>
            <a:effectLst>
              <a:outerShdw blurRad="50800" dist="38100" dir="13500000" algn="br" rotWithShape="0">
                <a:schemeClr val="bg1">
                  <a:alpha val="29000"/>
                </a:schemeClr>
              </a:outerShdw>
            </a:effectLst>
          </p:spPr>
          <p:txBody>
            <a:bodyPr wrap="square" rtlCol="0">
              <a:spAutoFit/>
            </a:bodyPr>
            <a:lstStyle/>
            <a:p>
              <a:r>
                <a:rPr lang="en-US" altLang="ko-KR" sz="8000" dirty="0">
                  <a:gradFill>
                    <a:gsLst>
                      <a:gs pos="46000">
                        <a:schemeClr val="accent3">
                          <a:lumMod val="40000"/>
                          <a:lumOff val="60000"/>
                        </a:schemeClr>
                      </a:gs>
                      <a:gs pos="100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2700000" scaled="0"/>
                  </a:gradFill>
                  <a:effectLst>
                    <a:outerShdw blurRad="152400" dist="152400" dir="13500000" algn="br" rotWithShape="0">
                      <a:schemeClr val="bg1">
                        <a:alpha val="28000"/>
                      </a:schemeClr>
                    </a:outerShdw>
                  </a:effectLst>
                  <a:latin typeface="페이퍼로지 8 ExtraBold" pitchFamily="2" charset="-127"/>
                  <a:ea typeface="페이퍼로지 8 ExtraBold" pitchFamily="2" charset="-127"/>
                </a:rPr>
                <a:t>Q&amp;A</a:t>
              </a:r>
              <a:endParaRPr lang="ko-KR" altLang="en-US" sz="8000" dirty="0">
                <a:gradFill>
                  <a:gsLst>
                    <a:gs pos="46000">
                      <a:schemeClr val="accent3">
                        <a:lumMod val="40000"/>
                        <a:lumOff val="60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effectLst>
                  <a:outerShdw blurRad="152400" dist="152400" dir="13500000" algn="br" rotWithShape="0">
                    <a:schemeClr val="bg1">
                      <a:alpha val="28000"/>
                    </a:schemeClr>
                  </a:outerShdw>
                </a:effectLst>
                <a:latin typeface="페이퍼로지 8 ExtraBold" pitchFamily="2" charset="-127"/>
                <a:ea typeface="페이퍼로지 8 ExtraBold" pitchFamily="2" charset="-127"/>
              </a:endParaRPr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E0A7788-E7B9-5C03-508B-686EE8145AC1}"/>
                </a:ext>
              </a:extLst>
            </p:cNvPr>
            <p:cNvSpPr txBox="1"/>
            <p:nvPr/>
          </p:nvSpPr>
          <p:spPr>
            <a:xfrm>
              <a:off x="4743449" y="4090719"/>
              <a:ext cx="2705101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0" dirty="0">
                  <a:gradFill>
                    <a:gsLst>
                      <a:gs pos="46000">
                        <a:schemeClr val="accent3">
                          <a:lumMod val="40000"/>
                          <a:lumOff val="60000"/>
                        </a:schemeClr>
                      </a:gs>
                      <a:gs pos="100000">
                        <a:schemeClr val="accent3">
                          <a:lumMod val="60000"/>
                          <a:lumOff val="40000"/>
                        </a:schemeClr>
                      </a:gs>
                    </a:gsLst>
                    <a:lin ang="2700000" scaled="0"/>
                  </a:gradFill>
                  <a:effectLst>
                    <a:outerShdw blurRad="165100" dist="76200" dir="2700000" algn="tl" rotWithShape="0">
                      <a:prstClr val="black">
                        <a:alpha val="30000"/>
                      </a:prstClr>
                    </a:outerShdw>
                  </a:effectLst>
                  <a:latin typeface="페이퍼로지 8 ExtraBold" pitchFamily="2" charset="-127"/>
                  <a:ea typeface="페이퍼로지 8 ExtraBold" pitchFamily="2" charset="-127"/>
                </a:rPr>
                <a:t>Q&amp;A</a:t>
              </a:r>
              <a:endParaRPr lang="ko-KR" altLang="en-US" sz="8000" dirty="0">
                <a:gradFill>
                  <a:gsLst>
                    <a:gs pos="46000">
                      <a:schemeClr val="accent3">
                        <a:lumMod val="40000"/>
                        <a:lumOff val="60000"/>
                      </a:schemeClr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2700000" scaled="0"/>
                </a:gradFill>
                <a:effectLst>
                  <a:outerShdw blurRad="165100" dist="76200" dir="2700000" algn="tl" rotWithShape="0">
                    <a:prstClr val="black">
                      <a:alpha val="30000"/>
                    </a:prstClr>
                  </a:outerShdw>
                </a:effectLst>
                <a:latin typeface="페이퍼로지 8 ExtraBold" pitchFamily="2" charset="-127"/>
                <a:ea typeface="페이퍼로지 8 ExtraBold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19566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414</Words>
  <Application>Microsoft Office PowerPoint</Application>
  <PresentationFormat>와이드스크린</PresentationFormat>
  <Paragraphs>149</Paragraphs>
  <Slides>14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페이퍼로지 8 ExtraBold</vt:lpstr>
      <vt:lpstr>페이퍼로지 5 Medium</vt:lpstr>
      <vt:lpstr>맑은 고딕</vt:lpstr>
      <vt:lpstr>Arial</vt:lpstr>
      <vt:lpstr>페이퍼로지 1 Thin</vt:lpstr>
      <vt:lpstr>페이퍼로지 3 Light</vt:lpstr>
      <vt:lpstr>페이퍼로지 7 Bold</vt:lpstr>
      <vt:lpstr>페이퍼로지 6 SemiBold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김지용</dc:creator>
  <cp:lastModifiedBy>김지용</cp:lastModifiedBy>
  <cp:revision>6</cp:revision>
  <dcterms:created xsi:type="dcterms:W3CDTF">2026-05-19T02:27:57Z</dcterms:created>
  <dcterms:modified xsi:type="dcterms:W3CDTF">2026-05-20T11:46:40Z</dcterms:modified>
</cp:coreProperties>
</file>